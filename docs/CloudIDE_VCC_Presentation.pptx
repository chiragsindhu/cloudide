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5F35784-4480-4029-AB2B-8AD73DC7AC1C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Welcome. This project demonstrates containerized code execution on a virtual machine. Walk through each slide and explain the architecture decisions.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F8AAA2-0F02-4720-A562-FAEC75D546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explains the purpose. Emphasize that every execution is a fresh container — this is the core VCC concept being demonstrated.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4F8513-B74E-4E4A-B710-502AEE0395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flow step by step. Emphasize step 2 (new container per request) and step 5 (container destroyed) as the core virtualization principles.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82B35E-B4F5-493C-8932-A50E5AB087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that the nested box diagram shows the isolation layers. Docker containers share the OS kernel but are isolated via namespaces and cgroups — that is OS-level virtualization.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9B0075-8426-402B-8B0E-81BC261615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Each technology was chosen deliberately. Redis replaces a full database — no persistence needed. No Nginx, no Kafka, no Kubernetes — intentional minimalism.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BA5189-9D4E-412A-8E27-C15D9309E5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Redis is the only storage layer by design. No PostgreSQL, no MongoDB. Every data structure choice has a reason — explain the HASH vs LIST tradeoffs.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F14678-6EF1-4778-859E-8F43CEB339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Redis is the only storage layer by design. No PostgreSQL, no MongoDB. Every data structure choice has a reason — explain the HASH vs LIST tradeoffs.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E05E01-6149-4C7A-990C-2E3ACF4BC2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debug dashboard is the observability layer. Show it live if possible. WebSocket means zero polling — events are pushed instantly.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07DF51-2758-4A60-9D41-EA20662610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debug dashboard is the observability layer. Show it live if possible. WebSocket means zero polling — events are pushed instantly.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08037D-1975-43E3-8559-6333FA7B5C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Full Swagger docs are live at /docs. The POST /execute is the entry point — it is deliberately async. Client gets an ID immediately and polls or listens via WebSocket.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96D2F9-F23B-4A8C-9C43-52C89EEB36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most important slide for the professor. Map each feature directly back to VCC theory. Namespaces, cgroups, container lifecycle — all explicitly demonstrated.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4D9C11-E1A0-4809-8AE5-DFFB3EE8C5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 that docker-compose up --build is the entire deployment. No Kubernetes, no complex CI/CD. The VM IS the cloud here.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783597-B79D-4C7D-ABEE-0B6739F9B0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the IDE and run a simple script. Then switch to the debug dashboard and show the event stream updating. Finally open /docs and show the Swagger UI.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4CB676-9335-4D46-8513-F9E2BFDB99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by reiterating: the project is live, the code is clean, and every architectural decision maps to a VCC concept. Invite questions.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BFB84E-12C0-46E6-80C5-3DA7EC05C1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by reiterating: the project is live, the code is clean, and every architectural decision maps to a VCC concept. Invite questions.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8CC5FB-A4F2-4C4F-AAD3-AFB10C0A86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by reiterating: the project is live, the code is clean, and every architectural decision maps to a VCC concept. Invite questions.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049A7A-B835-48EE-B5DD-565178B84F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by reiterating: the project is live, the code is clean, and every architectural decision maps to a VCC concept. Invite questions.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C654C7-C3DF-4459-9DC6-E0519D9F41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by reiterating: the project is live, the code is clean, and every architectural decision maps to a VCC concept. Invite questions.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2AEFB0-8377-4DDC-AD6A-0E1D160552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https://cloudide.webhop.me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103896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Integrated Development Environment</a:t>
            </a: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2160000" y="2280240"/>
            <a:ext cx="49064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Project Based onVirtualization, Containerization &amp; Cloud Computing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457200" y="28346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Chirag Sindhu - 2K20CSUNO3002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CSH422B-T/P | Virtualization – Containers &amp; Cloud  |  2026 | Summer Semester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5"/>
          <p:cNvSpPr/>
          <p:nvPr/>
        </p:nvSpPr>
        <p:spPr>
          <a:xfrm>
            <a:off x="2153880" y="4332600"/>
            <a:ext cx="883080" cy="208080"/>
          </a:xfrm>
          <a:prstGeom prst="roundRect">
            <a:avLst>
              <a:gd name="adj" fmla="val 31579"/>
            </a:avLst>
          </a:prstGeom>
          <a:solidFill>
            <a:srgbClr val="0080FF">
              <a:alpha val="70000"/>
            </a:srgbClr>
          </a:solidFill>
          <a:ln w="12700">
            <a:solidFill>
              <a:srgbClr val="008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2153880" y="4332600"/>
            <a:ext cx="8830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FastAPI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7"/>
          <p:cNvSpPr/>
          <p:nvPr/>
        </p:nvSpPr>
        <p:spPr>
          <a:xfrm>
            <a:off x="3175920" y="4332600"/>
            <a:ext cx="882720" cy="208080"/>
          </a:xfrm>
          <a:prstGeom prst="roundRect">
            <a:avLst>
              <a:gd name="adj" fmla="val 31579"/>
            </a:avLst>
          </a:prstGeom>
          <a:solidFill>
            <a:srgbClr val="0DB7ED">
              <a:alpha val="70000"/>
            </a:srgbClr>
          </a:solidFill>
          <a:ln w="12700">
            <a:solidFill>
              <a:srgbClr val="0DB7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3175920" y="4332600"/>
            <a:ext cx="88272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4197600" y="4332600"/>
            <a:ext cx="883440" cy="208080"/>
          </a:xfrm>
          <a:prstGeom prst="roundRect">
            <a:avLst>
              <a:gd name="adj" fmla="val 31579"/>
            </a:avLst>
          </a:prstGeom>
          <a:solidFill>
            <a:srgbClr val="DC382D">
              <a:alpha val="70000"/>
            </a:srgbClr>
          </a:solidFill>
          <a:ln w="12700">
            <a:solidFill>
              <a:srgbClr val="DC38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4197600" y="4332600"/>
            <a:ext cx="8834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Redis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5220000" y="4332600"/>
            <a:ext cx="882720" cy="208080"/>
          </a:xfrm>
          <a:prstGeom prst="roundRect">
            <a:avLst>
              <a:gd name="adj" fmla="val 31579"/>
            </a:avLst>
          </a:prstGeom>
          <a:solidFill>
            <a:srgbClr val="306998">
              <a:alpha val="70000"/>
            </a:srgbClr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5220000" y="4332600"/>
            <a:ext cx="88272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Python 3.12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6241680" y="4332600"/>
            <a:ext cx="883080" cy="208080"/>
          </a:xfrm>
          <a:prstGeom prst="roundRect">
            <a:avLst>
              <a:gd name="adj" fmla="val 31579"/>
            </a:avLst>
          </a:prstGeom>
          <a:solidFill>
            <a:srgbClr val="7B61FF">
              <a:alpha val="70000"/>
            </a:srgbClr>
          </a:solidFill>
          <a:ln w="12700">
            <a:solidFill>
              <a:srgbClr val="7B61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6241680" y="4332600"/>
            <a:ext cx="8830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WebSocket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457200" y="46634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Live on https://cloudide.webhop.me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"/>
          <p:cNvPicPr/>
          <p:nvPr/>
        </p:nvPicPr>
        <p:blipFill>
          <a:blip r:embed="rId1"/>
          <a:stretch/>
        </p:blipFill>
        <p:spPr>
          <a:xfrm>
            <a:off x="7380000" y="109080"/>
            <a:ext cx="1575000" cy="61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080FF"/>
          </a:solidFill>
          <a:ln w="12700">
            <a:solidFill>
              <a:srgbClr val="008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57200" y="1371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Project Overview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365760" y="960120"/>
            <a:ext cx="3931560" cy="3840120"/>
          </a:xfrm>
          <a:prstGeom prst="roundRect">
            <a:avLst>
              <a:gd name="adj" fmla="val 2857"/>
            </a:avLst>
          </a:prstGeom>
          <a:solidFill>
            <a:srgbClr val="112240"/>
          </a:solidFill>
          <a:ln w="12700">
            <a:solidFill>
              <a:srgbClr val="1E3A5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548640" y="109728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What It Is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548640" y="1572840"/>
            <a:ext cx="356580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A browser-based Python IDE hosted on a Virtual Machine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Each code submission runs in a freshly-created Docker container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Containers are fully isolated — no network, no host access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Real-time execution monitoring via WebSocket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Redis-backed metrics and event logging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5"/>
          <p:cNvSpPr/>
          <p:nvPr/>
        </p:nvSpPr>
        <p:spPr>
          <a:xfrm>
            <a:off x="4846320" y="960120"/>
            <a:ext cx="3931560" cy="3840120"/>
          </a:xfrm>
          <a:prstGeom prst="roundRect">
            <a:avLst>
              <a:gd name="adj" fmla="val 2857"/>
            </a:avLst>
          </a:prstGeom>
          <a:solidFill>
            <a:srgbClr val="112240"/>
          </a:solidFill>
          <a:ln w="12700">
            <a:solidFill>
              <a:srgbClr val="1E3A5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5029200" y="109728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B61FF"/>
                </a:solidFill>
                <a:effectLst/>
                <a:uFillTx/>
                <a:latin typeface="Calibri"/>
                <a:ea typeface="Calibri"/>
              </a:rPr>
              <a:t>Why It Matters for VCC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5029200" y="1572840"/>
            <a:ext cx="356580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Demonstrates OS-level virtualization with Docker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Shows container lifecycle management per request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Applies resource limits (CPU, RAM, timeout) per container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Illustrates cloud-style stateless execution model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Full observability stack with metrics and event streaming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0E59B"/>
          </a:solidFill>
          <a:ln w="12700">
            <a:solidFill>
              <a:srgbClr val="00E5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457200" y="1371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System Architecture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274320" y="1097280"/>
            <a:ext cx="1325520" cy="840960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9050">
            <a:solidFill>
              <a:srgbClr val="0080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274320" y="1097280"/>
            <a:ext cx="13255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Browser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HTML + JS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1636560" y="1499400"/>
            <a:ext cx="418320" cy="360"/>
          </a:xfrm>
          <a:prstGeom prst="line">
            <a:avLst/>
          </a:prstGeom>
          <a:ln w="254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1927080" y="1362600"/>
            <a:ext cx="200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6"/>
          <p:cNvSpPr/>
          <p:nvPr/>
        </p:nvSpPr>
        <p:spPr>
          <a:xfrm>
            <a:off x="2091600" y="1097280"/>
            <a:ext cx="1325520" cy="840960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9050">
            <a:solidFill>
              <a:srgbClr val="0080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2091600" y="1097280"/>
            <a:ext cx="13255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FastAPI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Python 3.12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8"/>
          <p:cNvSpPr/>
          <p:nvPr/>
        </p:nvSpPr>
        <p:spPr>
          <a:xfrm>
            <a:off x="3453840" y="1499400"/>
            <a:ext cx="418320" cy="360"/>
          </a:xfrm>
          <a:prstGeom prst="line">
            <a:avLst/>
          </a:prstGeom>
          <a:ln w="254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9"/>
          <p:cNvSpPr/>
          <p:nvPr/>
        </p:nvSpPr>
        <p:spPr>
          <a:xfrm>
            <a:off x="3744360" y="1362600"/>
            <a:ext cx="200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0"/>
          <p:cNvSpPr/>
          <p:nvPr/>
        </p:nvSpPr>
        <p:spPr>
          <a:xfrm>
            <a:off x="3909240" y="1097280"/>
            <a:ext cx="1325520" cy="840960"/>
          </a:xfrm>
          <a:prstGeom prst="roundRect">
            <a:avLst>
              <a:gd name="adj" fmla="val 10870"/>
            </a:avLst>
          </a:prstGeom>
          <a:solidFill>
            <a:srgbClr val="3D1A1A"/>
          </a:solidFill>
          <a:ln w="19050">
            <a:solidFill>
              <a:srgbClr val="0080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3909240" y="1097280"/>
            <a:ext cx="13255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Redis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State + Logs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2"/>
          <p:cNvSpPr/>
          <p:nvPr/>
        </p:nvSpPr>
        <p:spPr>
          <a:xfrm>
            <a:off x="5271480" y="1499400"/>
            <a:ext cx="418320" cy="360"/>
          </a:xfrm>
          <a:prstGeom prst="line">
            <a:avLst/>
          </a:prstGeom>
          <a:ln w="254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5562000" y="1362600"/>
            <a:ext cx="200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4"/>
          <p:cNvSpPr/>
          <p:nvPr/>
        </p:nvSpPr>
        <p:spPr>
          <a:xfrm>
            <a:off x="5726520" y="1097280"/>
            <a:ext cx="1325520" cy="840960"/>
          </a:xfrm>
          <a:prstGeom prst="roundRect">
            <a:avLst>
              <a:gd name="adj" fmla="val 10870"/>
            </a:avLst>
          </a:prstGeom>
          <a:solidFill>
            <a:srgbClr val="1A2D1A"/>
          </a:solidFill>
          <a:ln w="19050">
            <a:solidFill>
              <a:srgbClr val="0080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5726520" y="1097280"/>
            <a:ext cx="13255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 SDK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Container Mgr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6"/>
          <p:cNvSpPr/>
          <p:nvPr/>
        </p:nvSpPr>
        <p:spPr>
          <a:xfrm>
            <a:off x="7088760" y="1499400"/>
            <a:ext cx="418320" cy="360"/>
          </a:xfrm>
          <a:prstGeom prst="line">
            <a:avLst/>
          </a:prstGeom>
          <a:ln w="254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7379280" y="1362600"/>
            <a:ext cx="200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8"/>
          <p:cNvSpPr/>
          <p:nvPr/>
        </p:nvSpPr>
        <p:spPr>
          <a:xfrm>
            <a:off x="7543800" y="1097280"/>
            <a:ext cx="1325520" cy="840960"/>
          </a:xfrm>
          <a:prstGeom prst="roundRect">
            <a:avLst>
              <a:gd name="adj" fmla="val 10870"/>
            </a:avLst>
          </a:prstGeom>
          <a:solidFill>
            <a:srgbClr val="1A1A3D"/>
          </a:solidFill>
          <a:ln w="19050">
            <a:solidFill>
              <a:srgbClr val="0080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7543800" y="1097280"/>
            <a:ext cx="13255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Python Container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Isolated Exec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0"/>
          <p:cNvSpPr/>
          <p:nvPr/>
        </p:nvSpPr>
        <p:spPr>
          <a:xfrm>
            <a:off x="384120" y="2212920"/>
            <a:ext cx="2605680" cy="1078560"/>
          </a:xfrm>
          <a:prstGeom prst="roundRect">
            <a:avLst>
              <a:gd name="adj" fmla="val 8475"/>
            </a:avLst>
          </a:prstGeom>
          <a:solidFill>
            <a:srgbClr val="112240"/>
          </a:solidFill>
          <a:ln w="12700">
            <a:solidFill>
              <a:srgbClr val="1E3A5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1"/>
          <p:cNvSpPr/>
          <p:nvPr/>
        </p:nvSpPr>
        <p:spPr>
          <a:xfrm>
            <a:off x="493920" y="2304360"/>
            <a:ext cx="23860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1. Request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User submits code via browser. FastAPI generates execution_id and stores initial state in Redis.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2"/>
          <p:cNvSpPr/>
          <p:nvPr/>
        </p:nvSpPr>
        <p:spPr>
          <a:xfrm>
            <a:off x="3264480" y="2212920"/>
            <a:ext cx="2605680" cy="1078560"/>
          </a:xfrm>
          <a:prstGeom prst="roundRect">
            <a:avLst>
              <a:gd name="adj" fmla="val 8475"/>
            </a:avLst>
          </a:prstGeom>
          <a:solidFill>
            <a:srgbClr val="112240"/>
          </a:solidFill>
          <a:ln w="12700">
            <a:solidFill>
              <a:srgbClr val="1E3A5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3"/>
          <p:cNvSpPr/>
          <p:nvPr/>
        </p:nvSpPr>
        <p:spPr>
          <a:xfrm>
            <a:off x="3374280" y="2304360"/>
            <a:ext cx="23860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2. Container Spawn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Docker SDK creates a new isolated container from the python-runner image with strict resource limits.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4"/>
          <p:cNvSpPr/>
          <p:nvPr/>
        </p:nvSpPr>
        <p:spPr>
          <a:xfrm>
            <a:off x="6144840" y="2212920"/>
            <a:ext cx="2605680" cy="1078560"/>
          </a:xfrm>
          <a:prstGeom prst="roundRect">
            <a:avLst>
              <a:gd name="adj" fmla="val 8475"/>
            </a:avLst>
          </a:prstGeom>
          <a:solidFill>
            <a:srgbClr val="112240"/>
          </a:solidFill>
          <a:ln w="12700">
            <a:solidFill>
              <a:srgbClr val="1E3A5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5"/>
          <p:cNvSpPr/>
          <p:nvPr/>
        </p:nvSpPr>
        <p:spPr>
          <a:xfrm>
            <a:off x="6254640" y="2304360"/>
            <a:ext cx="23860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3. Code Injection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User code is written into the container via a temp file. No filesystem access to the host is permitted.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6"/>
          <p:cNvSpPr/>
          <p:nvPr/>
        </p:nvSpPr>
        <p:spPr>
          <a:xfrm>
            <a:off x="384120" y="3493080"/>
            <a:ext cx="2605680" cy="1078560"/>
          </a:xfrm>
          <a:prstGeom prst="roundRect">
            <a:avLst>
              <a:gd name="adj" fmla="val 8475"/>
            </a:avLst>
          </a:prstGeom>
          <a:solidFill>
            <a:srgbClr val="112240"/>
          </a:solidFill>
          <a:ln w="12700">
            <a:solidFill>
              <a:srgbClr val="1E3A5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7"/>
          <p:cNvSpPr/>
          <p:nvPr/>
        </p:nvSpPr>
        <p:spPr>
          <a:xfrm>
            <a:off x="493920" y="3584520"/>
            <a:ext cx="23860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4. Execution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Python runs inside the container. stdout and stderr are captured and streamed back in real time.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8"/>
          <p:cNvSpPr/>
          <p:nvPr/>
        </p:nvSpPr>
        <p:spPr>
          <a:xfrm>
            <a:off x="3264480" y="3493080"/>
            <a:ext cx="2605680" cy="1078560"/>
          </a:xfrm>
          <a:prstGeom prst="roundRect">
            <a:avLst>
              <a:gd name="adj" fmla="val 8475"/>
            </a:avLst>
          </a:prstGeom>
          <a:solidFill>
            <a:srgbClr val="112240"/>
          </a:solidFill>
          <a:ln w="12700">
            <a:solidFill>
              <a:srgbClr val="1E3A5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9"/>
          <p:cNvSpPr/>
          <p:nvPr/>
        </p:nvSpPr>
        <p:spPr>
          <a:xfrm>
            <a:off x="3374280" y="3584520"/>
            <a:ext cx="23860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5. Cleanup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Container is destroyed after execution. No state persists. Redis stores final result with metrics.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0"/>
          <p:cNvSpPr/>
          <p:nvPr/>
        </p:nvSpPr>
        <p:spPr>
          <a:xfrm>
            <a:off x="6144840" y="3493080"/>
            <a:ext cx="2605680" cy="1078560"/>
          </a:xfrm>
          <a:prstGeom prst="roundRect">
            <a:avLst>
              <a:gd name="adj" fmla="val 8475"/>
            </a:avLst>
          </a:prstGeom>
          <a:solidFill>
            <a:srgbClr val="112240"/>
          </a:solidFill>
          <a:ln w="12700">
            <a:solidFill>
              <a:srgbClr val="1E3A5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1"/>
          <p:cNvSpPr/>
          <p:nvPr/>
        </p:nvSpPr>
        <p:spPr>
          <a:xfrm>
            <a:off x="6254640" y="3584520"/>
            <a:ext cx="23860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6. Response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FastAPI returns execution_id. Client polls or receives WebSocket events to display results and logs.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457200" y="1371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Containerization Deep Dive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365760" y="960120"/>
            <a:ext cx="4114440" cy="3885840"/>
          </a:xfrm>
          <a:prstGeom prst="roundRect">
            <a:avLst>
              <a:gd name="adj" fmla="val 2824"/>
            </a:avLst>
          </a:prstGeom>
          <a:solidFill>
            <a:srgbClr val="112240"/>
          </a:solidFill>
          <a:ln w="19050">
            <a:solidFill>
              <a:srgbClr val="7B61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548640" y="107892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B61FF"/>
                </a:solidFill>
                <a:effectLst/>
                <a:uFillTx/>
                <a:latin typeface="Calibri"/>
                <a:ea typeface="Calibri"/>
              </a:rPr>
              <a:t>Container Isolation Model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594360" y="1536120"/>
            <a:ext cx="3657240" cy="411120"/>
          </a:xfrm>
          <a:prstGeom prst="roundRect">
            <a:avLst>
              <a:gd name="adj" fmla="val 15556"/>
            </a:avLst>
          </a:prstGeom>
          <a:solidFill>
            <a:srgbClr val="1A1A2E"/>
          </a:solidFill>
          <a:ln w="9525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594360" y="153612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Virtual Machine (Ubuntu 24)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777240" y="2002680"/>
            <a:ext cx="3291480" cy="365400"/>
          </a:xfrm>
          <a:prstGeom prst="roundRect">
            <a:avLst>
              <a:gd name="adj" fmla="val 17500"/>
            </a:avLst>
          </a:prstGeom>
          <a:solidFill>
            <a:srgbClr val="162032"/>
          </a:solidFill>
          <a:ln w="9525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777240" y="20026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Docker Engine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960120" y="2423160"/>
            <a:ext cx="2925720" cy="365400"/>
          </a:xfrm>
          <a:prstGeom prst="roundRect">
            <a:avLst>
              <a:gd name="adj" fmla="val 17500"/>
            </a:avLst>
          </a:prstGeom>
          <a:solidFill>
            <a:srgbClr val="1E3A5F"/>
          </a:solidFill>
          <a:ln w="9525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960120" y="24231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python-runner Container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0"/>
          <p:cNvSpPr/>
          <p:nvPr/>
        </p:nvSpPr>
        <p:spPr>
          <a:xfrm>
            <a:off x="1143000" y="2843640"/>
            <a:ext cx="2559960" cy="365400"/>
          </a:xfrm>
          <a:prstGeom prst="roundRect">
            <a:avLst>
              <a:gd name="adj" fmla="val 17500"/>
            </a:avLst>
          </a:prstGeom>
          <a:solidFill>
            <a:srgbClr val="0D2040"/>
          </a:solidFill>
          <a:ln w="9525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1143000" y="28436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Python 3.12 Process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1325880" y="3264480"/>
            <a:ext cx="2194200" cy="328680"/>
          </a:xfrm>
          <a:prstGeom prst="roundRect">
            <a:avLst>
              <a:gd name="adj" fmla="val 19444"/>
            </a:avLst>
          </a:prstGeom>
          <a:solidFill>
            <a:srgbClr val="063060"/>
          </a:solidFill>
          <a:ln w="9525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1325880" y="3264480"/>
            <a:ext cx="2194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User Code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4"/>
          <p:cNvSpPr/>
          <p:nvPr/>
        </p:nvSpPr>
        <p:spPr>
          <a:xfrm>
            <a:off x="4709160" y="960120"/>
            <a:ext cx="4068720" cy="1828440"/>
          </a:xfrm>
          <a:prstGeom prst="roundRect">
            <a:avLst>
              <a:gd name="adj" fmla="val 6000"/>
            </a:avLst>
          </a:prstGeom>
          <a:solidFill>
            <a:srgbClr val="112240"/>
          </a:solidFill>
          <a:ln w="19050">
            <a:solidFill>
              <a:srgbClr val="00E59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4892040" y="107892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E59B"/>
                </a:solidFill>
                <a:effectLst/>
                <a:uFillTx/>
                <a:latin typeface="Calibri"/>
                <a:ea typeface="Calibri"/>
              </a:rPr>
              <a:t>Resource Limits per Container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5029200" y="150876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CPU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7"/>
          <p:cNvSpPr/>
          <p:nvPr/>
        </p:nvSpPr>
        <p:spPr>
          <a:xfrm>
            <a:off x="6583680" y="1508760"/>
            <a:ext cx="1919880" cy="255600"/>
          </a:xfrm>
          <a:prstGeom prst="roundRect">
            <a:avLst>
              <a:gd name="adj" fmla="val 28571"/>
            </a:avLst>
          </a:prstGeom>
          <a:solidFill>
            <a:srgbClr val="0D2A1A"/>
          </a:solidFill>
          <a:ln w="12700">
            <a:solidFill>
              <a:srgbClr val="00E5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8"/>
          <p:cNvSpPr/>
          <p:nvPr/>
        </p:nvSpPr>
        <p:spPr>
          <a:xfrm>
            <a:off x="6583680" y="150876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E59B"/>
                </a:solidFill>
                <a:effectLst/>
                <a:uFillTx/>
                <a:latin typeface="Calibri"/>
                <a:ea typeface="Calibri"/>
              </a:rPr>
              <a:t>1 core max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9"/>
          <p:cNvSpPr/>
          <p:nvPr/>
        </p:nvSpPr>
        <p:spPr>
          <a:xfrm>
            <a:off x="5029200" y="180144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Memory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0"/>
          <p:cNvSpPr/>
          <p:nvPr/>
        </p:nvSpPr>
        <p:spPr>
          <a:xfrm>
            <a:off x="6583680" y="1801440"/>
            <a:ext cx="1919880" cy="255600"/>
          </a:xfrm>
          <a:prstGeom prst="roundRect">
            <a:avLst>
              <a:gd name="adj" fmla="val 28571"/>
            </a:avLst>
          </a:prstGeom>
          <a:solidFill>
            <a:srgbClr val="0D2A1A"/>
          </a:solidFill>
          <a:ln w="12700">
            <a:solidFill>
              <a:srgbClr val="00E5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1"/>
          <p:cNvSpPr/>
          <p:nvPr/>
        </p:nvSpPr>
        <p:spPr>
          <a:xfrm>
            <a:off x="6583680" y="180144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E59B"/>
                </a:solidFill>
                <a:effectLst/>
                <a:uFillTx/>
                <a:latin typeface="Calibri"/>
                <a:ea typeface="Calibri"/>
              </a:rPr>
              <a:t>256 MB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2"/>
          <p:cNvSpPr/>
          <p:nvPr/>
        </p:nvSpPr>
        <p:spPr>
          <a:xfrm>
            <a:off x="5029200" y="20941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Timeout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3"/>
          <p:cNvSpPr/>
          <p:nvPr/>
        </p:nvSpPr>
        <p:spPr>
          <a:xfrm>
            <a:off x="6583680" y="2094120"/>
            <a:ext cx="1919880" cy="255600"/>
          </a:xfrm>
          <a:prstGeom prst="roundRect">
            <a:avLst>
              <a:gd name="adj" fmla="val 28571"/>
            </a:avLst>
          </a:prstGeom>
          <a:solidFill>
            <a:srgbClr val="0D2A1A"/>
          </a:solidFill>
          <a:ln w="12700">
            <a:solidFill>
              <a:srgbClr val="00E5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4"/>
          <p:cNvSpPr/>
          <p:nvPr/>
        </p:nvSpPr>
        <p:spPr>
          <a:xfrm>
            <a:off x="6583680" y="20941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E59B"/>
                </a:solidFill>
                <a:effectLst/>
                <a:uFillTx/>
                <a:latin typeface="Calibri"/>
                <a:ea typeface="Calibri"/>
              </a:rPr>
              <a:t>30 seconds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5"/>
          <p:cNvSpPr/>
          <p:nvPr/>
        </p:nvSpPr>
        <p:spPr>
          <a:xfrm>
            <a:off x="5029200" y="238644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Processes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6"/>
          <p:cNvSpPr/>
          <p:nvPr/>
        </p:nvSpPr>
        <p:spPr>
          <a:xfrm>
            <a:off x="6583680" y="2386440"/>
            <a:ext cx="1919880" cy="255600"/>
          </a:xfrm>
          <a:prstGeom prst="roundRect">
            <a:avLst>
              <a:gd name="adj" fmla="val 28571"/>
            </a:avLst>
          </a:prstGeom>
          <a:solidFill>
            <a:srgbClr val="0D2A1A"/>
          </a:solidFill>
          <a:ln w="12700">
            <a:solidFill>
              <a:srgbClr val="00E5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7"/>
          <p:cNvSpPr/>
          <p:nvPr/>
        </p:nvSpPr>
        <p:spPr>
          <a:xfrm>
            <a:off x="6583680" y="238644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E59B"/>
                </a:solidFill>
                <a:effectLst/>
                <a:uFillTx/>
                <a:latin typeface="Calibri"/>
                <a:ea typeface="Calibri"/>
              </a:rPr>
              <a:t>100 max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8"/>
          <p:cNvSpPr/>
          <p:nvPr/>
        </p:nvSpPr>
        <p:spPr>
          <a:xfrm>
            <a:off x="4709160" y="2926080"/>
            <a:ext cx="4068720" cy="1919880"/>
          </a:xfrm>
          <a:prstGeom prst="roundRect">
            <a:avLst>
              <a:gd name="adj" fmla="val 5714"/>
            </a:avLst>
          </a:prstGeom>
          <a:solidFill>
            <a:srgbClr val="112240"/>
          </a:solidFill>
          <a:ln w="19050">
            <a:solidFill>
              <a:srgbClr val="00C8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9"/>
          <p:cNvSpPr/>
          <p:nvPr/>
        </p:nvSpPr>
        <p:spPr>
          <a:xfrm>
            <a:off x="4892040" y="304488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Security Enforcement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0"/>
          <p:cNvSpPr/>
          <p:nvPr/>
        </p:nvSpPr>
        <p:spPr>
          <a:xfrm>
            <a:off x="4892040" y="3456360"/>
            <a:ext cx="37029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Network access disabled (--network none)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No host filesystem mount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No access to Redis or FastAPI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Non-root user inside container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Read-only filesystem where possible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57200" y="1371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Technology Stack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347400" y="914400"/>
            <a:ext cx="2651400" cy="3977280"/>
          </a:xfrm>
          <a:prstGeom prst="roundRect">
            <a:avLst>
              <a:gd name="adj" fmla="val 4138"/>
            </a:avLst>
          </a:prstGeom>
          <a:solidFill>
            <a:srgbClr val="112240"/>
          </a:solidFill>
          <a:ln w="19050">
            <a:solidFill>
              <a:srgbClr val="0080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57200" y="1024200"/>
            <a:ext cx="2431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80FF"/>
                </a:solidFill>
                <a:effectLst/>
                <a:uFillTx/>
                <a:latin typeface="Calibri"/>
                <a:ea typeface="Calibri"/>
              </a:rPr>
              <a:t>Backend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457200" y="1481400"/>
            <a:ext cx="2431800" cy="749520"/>
          </a:xfrm>
          <a:prstGeom prst="roundRect">
            <a:avLst>
              <a:gd name="adj" fmla="val 9756"/>
            </a:avLst>
          </a:prstGeom>
          <a:solidFill>
            <a:srgbClr val="0B1632"/>
          </a:solidFill>
          <a:ln w="9525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548640" y="1545480"/>
            <a:ext cx="2248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FastAPI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Async REST API framework. Handles execution requests, status polling, and WebSocket broadcasting.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6"/>
          <p:cNvSpPr/>
          <p:nvPr/>
        </p:nvSpPr>
        <p:spPr>
          <a:xfrm>
            <a:off x="457200" y="2304360"/>
            <a:ext cx="2431800" cy="749520"/>
          </a:xfrm>
          <a:prstGeom prst="roundRect">
            <a:avLst>
              <a:gd name="adj" fmla="val 9756"/>
            </a:avLst>
          </a:prstGeom>
          <a:solidFill>
            <a:srgbClr val="0B1632"/>
          </a:solidFill>
          <a:ln w="9525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548640" y="2368440"/>
            <a:ext cx="2248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Uvicorn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ASGI server powering FastAPI with async I/O for concurrent request handling.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8"/>
          <p:cNvSpPr/>
          <p:nvPr/>
        </p:nvSpPr>
        <p:spPr>
          <a:xfrm>
            <a:off x="457200" y="3127320"/>
            <a:ext cx="2431800" cy="749520"/>
          </a:xfrm>
          <a:prstGeom prst="roundRect">
            <a:avLst>
              <a:gd name="adj" fmla="val 9756"/>
            </a:avLst>
          </a:prstGeom>
          <a:solidFill>
            <a:srgbClr val="0B1632"/>
          </a:solidFill>
          <a:ln w="9525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548640" y="3191400"/>
            <a:ext cx="2248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 SDK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Python library for programmatic container lifecycle management.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0"/>
          <p:cNvSpPr/>
          <p:nvPr/>
        </p:nvSpPr>
        <p:spPr>
          <a:xfrm>
            <a:off x="457200" y="3950280"/>
            <a:ext cx="2431800" cy="749520"/>
          </a:xfrm>
          <a:prstGeom prst="roundRect">
            <a:avLst>
              <a:gd name="adj" fmla="val 9756"/>
            </a:avLst>
          </a:prstGeom>
          <a:solidFill>
            <a:srgbClr val="0B1632"/>
          </a:solidFill>
          <a:ln w="9525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548640" y="4014360"/>
            <a:ext cx="2248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Asyncio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Non-blocking I/O for container monitoring and event streaming.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2"/>
          <p:cNvSpPr/>
          <p:nvPr/>
        </p:nvSpPr>
        <p:spPr>
          <a:xfrm>
            <a:off x="3182040" y="914400"/>
            <a:ext cx="2651400" cy="3977280"/>
          </a:xfrm>
          <a:prstGeom prst="roundRect">
            <a:avLst>
              <a:gd name="adj" fmla="val 4138"/>
            </a:avLst>
          </a:prstGeom>
          <a:solidFill>
            <a:srgbClr val="112240"/>
          </a:solidFill>
          <a:ln w="19050">
            <a:solidFill>
              <a:srgbClr val="0DB7E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3291840" y="1024200"/>
            <a:ext cx="2431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DB7ED"/>
                </a:solidFill>
                <a:effectLst/>
                <a:uFillTx/>
                <a:latin typeface="Calibri"/>
                <a:ea typeface="Calibri"/>
              </a:rPr>
              <a:t>Infrastructure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4"/>
          <p:cNvSpPr/>
          <p:nvPr/>
        </p:nvSpPr>
        <p:spPr>
          <a:xfrm>
            <a:off x="3291840" y="1481400"/>
            <a:ext cx="2431800" cy="749520"/>
          </a:xfrm>
          <a:prstGeom prst="roundRect">
            <a:avLst>
              <a:gd name="adj" fmla="val 9756"/>
            </a:avLst>
          </a:prstGeom>
          <a:solidFill>
            <a:srgbClr val="0B1632"/>
          </a:solidFill>
          <a:ln w="9525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3383280" y="1545480"/>
            <a:ext cx="2248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OS-level virtualization providing isolated execution environments per user request.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6"/>
          <p:cNvSpPr/>
          <p:nvPr/>
        </p:nvSpPr>
        <p:spPr>
          <a:xfrm>
            <a:off x="3291840" y="2304360"/>
            <a:ext cx="2431800" cy="749520"/>
          </a:xfrm>
          <a:prstGeom prst="roundRect">
            <a:avLst>
              <a:gd name="adj" fmla="val 9756"/>
            </a:avLst>
          </a:prstGeom>
          <a:solidFill>
            <a:srgbClr val="0B1632"/>
          </a:solidFill>
          <a:ln w="9525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7"/>
          <p:cNvSpPr/>
          <p:nvPr/>
        </p:nvSpPr>
        <p:spPr>
          <a:xfrm>
            <a:off x="3383280" y="2368440"/>
            <a:ext cx="2248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 Compose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Multi-service orchestration defining backend, Redis, and runner image build.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8"/>
          <p:cNvSpPr/>
          <p:nvPr/>
        </p:nvSpPr>
        <p:spPr>
          <a:xfrm>
            <a:off x="3291840" y="3127320"/>
            <a:ext cx="2431800" cy="749520"/>
          </a:xfrm>
          <a:prstGeom prst="roundRect">
            <a:avLst>
              <a:gd name="adj" fmla="val 9756"/>
            </a:avLst>
          </a:prstGeom>
          <a:solidFill>
            <a:srgbClr val="0B1632"/>
          </a:solidFill>
          <a:ln w="9525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9"/>
          <p:cNvSpPr/>
          <p:nvPr/>
        </p:nvSpPr>
        <p:spPr>
          <a:xfrm>
            <a:off x="3383280" y="3191400"/>
            <a:ext cx="2248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Redis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In-memory store for execution metadata, logs, metrics, and event streams.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0"/>
          <p:cNvSpPr/>
          <p:nvPr/>
        </p:nvSpPr>
        <p:spPr>
          <a:xfrm>
            <a:off x="3291840" y="3950280"/>
            <a:ext cx="2431800" cy="749520"/>
          </a:xfrm>
          <a:prstGeom prst="roundRect">
            <a:avLst>
              <a:gd name="adj" fmla="val 9756"/>
            </a:avLst>
          </a:prstGeom>
          <a:solidFill>
            <a:srgbClr val="0B1632"/>
          </a:solidFill>
          <a:ln w="9525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1"/>
          <p:cNvSpPr/>
          <p:nvPr/>
        </p:nvSpPr>
        <p:spPr>
          <a:xfrm>
            <a:off x="3383280" y="4014360"/>
            <a:ext cx="2248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Virtual Machine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Ubuntu 24 host VM on which all Docker containers and services run.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2"/>
          <p:cNvSpPr/>
          <p:nvPr/>
        </p:nvSpPr>
        <p:spPr>
          <a:xfrm>
            <a:off x="6016680" y="914400"/>
            <a:ext cx="2651400" cy="3977280"/>
          </a:xfrm>
          <a:prstGeom prst="roundRect">
            <a:avLst>
              <a:gd name="adj" fmla="val 4138"/>
            </a:avLst>
          </a:prstGeom>
          <a:solidFill>
            <a:srgbClr val="112240"/>
          </a:solidFill>
          <a:ln w="19050">
            <a:solidFill>
              <a:srgbClr val="00E59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3"/>
          <p:cNvSpPr/>
          <p:nvPr/>
        </p:nvSpPr>
        <p:spPr>
          <a:xfrm>
            <a:off x="6126480" y="1024200"/>
            <a:ext cx="2431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E59B"/>
                </a:solidFill>
                <a:effectLst/>
                <a:uFillTx/>
                <a:latin typeface="Calibri"/>
                <a:ea typeface="Calibri"/>
              </a:rPr>
              <a:t>Frontend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4"/>
          <p:cNvSpPr/>
          <p:nvPr/>
        </p:nvSpPr>
        <p:spPr>
          <a:xfrm>
            <a:off x="6126480" y="1481400"/>
            <a:ext cx="2431800" cy="749520"/>
          </a:xfrm>
          <a:prstGeom prst="roundRect">
            <a:avLst>
              <a:gd name="adj" fmla="val 9756"/>
            </a:avLst>
          </a:prstGeom>
          <a:solidFill>
            <a:srgbClr val="0B1632"/>
          </a:solidFill>
          <a:ln w="9525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5"/>
          <p:cNvSpPr/>
          <p:nvPr/>
        </p:nvSpPr>
        <p:spPr>
          <a:xfrm>
            <a:off x="6217920" y="1545480"/>
            <a:ext cx="2248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Vanilla JavaScript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No frameworks. Event-driven UI with fetch API and WebSocket client.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6"/>
          <p:cNvSpPr/>
          <p:nvPr/>
        </p:nvSpPr>
        <p:spPr>
          <a:xfrm>
            <a:off x="6126480" y="2304360"/>
            <a:ext cx="2431800" cy="749520"/>
          </a:xfrm>
          <a:prstGeom prst="roundRect">
            <a:avLst>
              <a:gd name="adj" fmla="val 9756"/>
            </a:avLst>
          </a:prstGeom>
          <a:solidFill>
            <a:srgbClr val="0B1632"/>
          </a:solidFill>
          <a:ln w="9525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7"/>
          <p:cNvSpPr/>
          <p:nvPr/>
        </p:nvSpPr>
        <p:spPr>
          <a:xfrm>
            <a:off x="6217920" y="2368440"/>
            <a:ext cx="2248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HTML5 + CSS3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Responsive layout with a code editor textarea, output panels, and status display.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8"/>
          <p:cNvSpPr/>
          <p:nvPr/>
        </p:nvSpPr>
        <p:spPr>
          <a:xfrm>
            <a:off x="6126480" y="3127320"/>
            <a:ext cx="2431800" cy="749520"/>
          </a:xfrm>
          <a:prstGeom prst="roundRect">
            <a:avLst>
              <a:gd name="adj" fmla="val 9756"/>
            </a:avLst>
          </a:prstGeom>
          <a:solidFill>
            <a:srgbClr val="0B1632"/>
          </a:solidFill>
          <a:ln w="9525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9"/>
          <p:cNvSpPr/>
          <p:nvPr/>
        </p:nvSpPr>
        <p:spPr>
          <a:xfrm>
            <a:off x="6217920" y="3191400"/>
            <a:ext cx="2248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WebSocket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Persistent connection to /ws/debug for real-time execution event streaming.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0"/>
          <p:cNvSpPr/>
          <p:nvPr/>
        </p:nvSpPr>
        <p:spPr>
          <a:xfrm>
            <a:off x="6126480" y="3950280"/>
            <a:ext cx="2431800" cy="749520"/>
          </a:xfrm>
          <a:prstGeom prst="roundRect">
            <a:avLst>
              <a:gd name="adj" fmla="val 9756"/>
            </a:avLst>
          </a:prstGeom>
          <a:solidFill>
            <a:srgbClr val="0B1632"/>
          </a:solidFill>
          <a:ln w="9525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1"/>
          <p:cNvSpPr/>
          <p:nvPr/>
        </p:nvSpPr>
        <p:spPr>
          <a:xfrm>
            <a:off x="6217920" y="4014360"/>
            <a:ext cx="2248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Swagger / OpenAPI 3.1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Auto-generated interactive API documentation at /docs.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DC382D"/>
          </a:solidFill>
          <a:ln w="12700">
            <a:solidFill>
              <a:srgbClr val="DC38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457200" y="1371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Redis - The State Layer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365760" y="914400"/>
            <a:ext cx="4114440" cy="3977280"/>
          </a:xfrm>
          <a:prstGeom prst="roundRect">
            <a:avLst>
              <a:gd name="adj" fmla="val 2759"/>
            </a:avLst>
          </a:prstGeom>
          <a:solidFill>
            <a:srgbClr val="112240"/>
          </a:solidFill>
          <a:ln w="19050">
            <a:solidFill>
              <a:srgbClr val="DC38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548640" y="102420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C382D"/>
                </a:solidFill>
                <a:effectLst/>
                <a:uFillTx/>
                <a:latin typeface="Calibri"/>
                <a:ea typeface="Calibri"/>
              </a:rPr>
              <a:t>What Redis Stores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4"/>
          <p:cNvSpPr/>
          <p:nvPr/>
        </p:nvSpPr>
        <p:spPr>
          <a:xfrm>
            <a:off x="502920" y="1481400"/>
            <a:ext cx="3840120" cy="475200"/>
          </a:xfrm>
          <a:prstGeom prst="roundRect">
            <a:avLst>
              <a:gd name="adj" fmla="val 13462"/>
            </a:avLst>
          </a:prstGeom>
          <a:solidFill>
            <a:srgbClr val="0B1020"/>
          </a:solidFill>
          <a:ln w="6350">
            <a:solidFill>
              <a:srgbClr val="1E2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502920" y="1536120"/>
            <a:ext cx="694440" cy="219240"/>
          </a:xfrm>
          <a:prstGeom prst="roundRect">
            <a:avLst>
              <a:gd name="adj" fmla="val 25000"/>
            </a:avLst>
          </a:prstGeom>
          <a:solidFill>
            <a:srgbClr val="DC382D">
              <a:alpha val="70000"/>
            </a:srgbClr>
          </a:solidFill>
          <a:ln w="6350">
            <a:solidFill>
              <a:srgbClr val="DC38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502920" y="1536120"/>
            <a:ext cx="694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HASH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1261800" y="1527120"/>
            <a:ext cx="2971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execution:{id}  </a:t>
            </a: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execution_id, status, created_at, completed_at, duration_ms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8"/>
          <p:cNvSpPr/>
          <p:nvPr/>
        </p:nvSpPr>
        <p:spPr>
          <a:xfrm>
            <a:off x="502920" y="2030040"/>
            <a:ext cx="3840120" cy="475200"/>
          </a:xfrm>
          <a:prstGeom prst="roundRect">
            <a:avLst>
              <a:gd name="adj" fmla="val 13462"/>
            </a:avLst>
          </a:prstGeom>
          <a:solidFill>
            <a:srgbClr val="0B1020"/>
          </a:solidFill>
          <a:ln w="6350">
            <a:solidFill>
              <a:srgbClr val="1E2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9"/>
          <p:cNvSpPr/>
          <p:nvPr/>
        </p:nvSpPr>
        <p:spPr>
          <a:xfrm>
            <a:off x="502920" y="2084760"/>
            <a:ext cx="694440" cy="219240"/>
          </a:xfrm>
          <a:prstGeom prst="roundRect">
            <a:avLst>
              <a:gd name="adj" fmla="val 25000"/>
            </a:avLst>
          </a:prstGeom>
          <a:solidFill>
            <a:srgbClr val="DC382D">
              <a:alpha val="70000"/>
            </a:srgbClr>
          </a:solidFill>
          <a:ln w="6350">
            <a:solidFill>
              <a:srgbClr val="DC38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502920" y="2084760"/>
            <a:ext cx="694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STRING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1261800" y="2075760"/>
            <a:ext cx="2971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execution:{id}:stdout  </a:t>
            </a: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Captured stdout from the container process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502920" y="2578680"/>
            <a:ext cx="3840120" cy="475200"/>
          </a:xfrm>
          <a:prstGeom prst="roundRect">
            <a:avLst>
              <a:gd name="adj" fmla="val 13462"/>
            </a:avLst>
          </a:prstGeom>
          <a:solidFill>
            <a:srgbClr val="0B1020"/>
          </a:solidFill>
          <a:ln w="6350">
            <a:solidFill>
              <a:srgbClr val="1E2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3"/>
          <p:cNvSpPr/>
          <p:nvPr/>
        </p:nvSpPr>
        <p:spPr>
          <a:xfrm>
            <a:off x="502920" y="2633400"/>
            <a:ext cx="694440" cy="219240"/>
          </a:xfrm>
          <a:prstGeom prst="roundRect">
            <a:avLst>
              <a:gd name="adj" fmla="val 25000"/>
            </a:avLst>
          </a:prstGeom>
          <a:solidFill>
            <a:srgbClr val="DC382D">
              <a:alpha val="70000"/>
            </a:srgbClr>
          </a:solidFill>
          <a:ln w="6350">
            <a:solidFill>
              <a:srgbClr val="DC38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502920" y="2633400"/>
            <a:ext cx="694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STRING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5"/>
          <p:cNvSpPr/>
          <p:nvPr/>
        </p:nvSpPr>
        <p:spPr>
          <a:xfrm>
            <a:off x="1261800" y="2624400"/>
            <a:ext cx="2971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execution:{id}:stderr  </a:t>
            </a: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Captured stderr and runtime error output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6"/>
          <p:cNvSpPr/>
          <p:nvPr/>
        </p:nvSpPr>
        <p:spPr>
          <a:xfrm>
            <a:off x="502920" y="3127320"/>
            <a:ext cx="3840120" cy="475200"/>
          </a:xfrm>
          <a:prstGeom prst="roundRect">
            <a:avLst>
              <a:gd name="adj" fmla="val 13462"/>
            </a:avLst>
          </a:prstGeom>
          <a:solidFill>
            <a:srgbClr val="0B1020"/>
          </a:solidFill>
          <a:ln w="6350">
            <a:solidFill>
              <a:srgbClr val="1E2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7"/>
          <p:cNvSpPr/>
          <p:nvPr/>
        </p:nvSpPr>
        <p:spPr>
          <a:xfrm>
            <a:off x="502920" y="3182040"/>
            <a:ext cx="694440" cy="219240"/>
          </a:xfrm>
          <a:prstGeom prst="roundRect">
            <a:avLst>
              <a:gd name="adj" fmla="val 25000"/>
            </a:avLst>
          </a:prstGeom>
          <a:solidFill>
            <a:srgbClr val="DC382D">
              <a:alpha val="70000"/>
            </a:srgbClr>
          </a:solidFill>
          <a:ln w="6350">
            <a:solidFill>
              <a:srgbClr val="DC38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502920" y="3182040"/>
            <a:ext cx="694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LIST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9"/>
          <p:cNvSpPr/>
          <p:nvPr/>
        </p:nvSpPr>
        <p:spPr>
          <a:xfrm>
            <a:off x="1261800" y="3173040"/>
            <a:ext cx="2971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execution:{id}:events  </a:t>
            </a: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Ordered log of lifecycle events for the execution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0"/>
          <p:cNvSpPr/>
          <p:nvPr/>
        </p:nvSpPr>
        <p:spPr>
          <a:xfrm>
            <a:off x="502920" y="3675960"/>
            <a:ext cx="3840120" cy="475200"/>
          </a:xfrm>
          <a:prstGeom prst="roundRect">
            <a:avLst>
              <a:gd name="adj" fmla="val 13462"/>
            </a:avLst>
          </a:prstGeom>
          <a:solidFill>
            <a:srgbClr val="0B1020"/>
          </a:solidFill>
          <a:ln w="6350">
            <a:solidFill>
              <a:srgbClr val="1E2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1"/>
          <p:cNvSpPr/>
          <p:nvPr/>
        </p:nvSpPr>
        <p:spPr>
          <a:xfrm>
            <a:off x="502920" y="3730680"/>
            <a:ext cx="694440" cy="219240"/>
          </a:xfrm>
          <a:prstGeom prst="roundRect">
            <a:avLst>
              <a:gd name="adj" fmla="val 25000"/>
            </a:avLst>
          </a:prstGeom>
          <a:solidFill>
            <a:srgbClr val="DC382D">
              <a:alpha val="70000"/>
            </a:srgbClr>
          </a:solidFill>
          <a:ln w="6350">
            <a:solidFill>
              <a:srgbClr val="DC38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2"/>
          <p:cNvSpPr/>
          <p:nvPr/>
        </p:nvSpPr>
        <p:spPr>
          <a:xfrm>
            <a:off x="502920" y="3730680"/>
            <a:ext cx="694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HASH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3"/>
          <p:cNvSpPr/>
          <p:nvPr/>
        </p:nvSpPr>
        <p:spPr>
          <a:xfrm>
            <a:off x="1261800" y="3721680"/>
            <a:ext cx="2971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metrics:global  </a:t>
            </a: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Counters: active, completed, failed, timeout executions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4"/>
          <p:cNvSpPr/>
          <p:nvPr/>
        </p:nvSpPr>
        <p:spPr>
          <a:xfrm>
            <a:off x="502920" y="4224600"/>
            <a:ext cx="3840120" cy="475200"/>
          </a:xfrm>
          <a:prstGeom prst="roundRect">
            <a:avLst>
              <a:gd name="adj" fmla="val 13462"/>
            </a:avLst>
          </a:prstGeom>
          <a:solidFill>
            <a:srgbClr val="0B1020"/>
          </a:solidFill>
          <a:ln w="6350">
            <a:solidFill>
              <a:srgbClr val="1E2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5"/>
          <p:cNvSpPr/>
          <p:nvPr/>
        </p:nvSpPr>
        <p:spPr>
          <a:xfrm>
            <a:off x="502920" y="4279320"/>
            <a:ext cx="694440" cy="219240"/>
          </a:xfrm>
          <a:prstGeom prst="roundRect">
            <a:avLst>
              <a:gd name="adj" fmla="val 25000"/>
            </a:avLst>
          </a:prstGeom>
          <a:solidFill>
            <a:srgbClr val="DC382D">
              <a:alpha val="70000"/>
            </a:srgbClr>
          </a:solidFill>
          <a:ln w="6350">
            <a:solidFill>
              <a:srgbClr val="DC38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6"/>
          <p:cNvSpPr/>
          <p:nvPr/>
        </p:nvSpPr>
        <p:spPr>
          <a:xfrm>
            <a:off x="502920" y="4279320"/>
            <a:ext cx="694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LIST / STREAM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7"/>
          <p:cNvSpPr/>
          <p:nvPr/>
        </p:nvSpPr>
        <p:spPr>
          <a:xfrm>
            <a:off x="1261800" y="4270320"/>
            <a:ext cx="2971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events:stream  </a:t>
            </a: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Recent 100 events broadcast via WebSocket to debug dashboard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8"/>
          <p:cNvSpPr/>
          <p:nvPr/>
        </p:nvSpPr>
        <p:spPr>
          <a:xfrm>
            <a:off x="4709160" y="914400"/>
            <a:ext cx="4068720" cy="1828440"/>
          </a:xfrm>
          <a:prstGeom prst="roundRect">
            <a:avLst>
              <a:gd name="adj" fmla="val 6000"/>
            </a:avLst>
          </a:prstGeom>
          <a:solidFill>
            <a:srgbClr val="112240"/>
          </a:solidFill>
          <a:ln w="19050">
            <a:solidFill>
              <a:srgbClr val="00E59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9"/>
          <p:cNvSpPr/>
          <p:nvPr/>
        </p:nvSpPr>
        <p:spPr>
          <a:xfrm>
            <a:off x="4892040" y="102420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E59B"/>
                </a:solidFill>
                <a:effectLst/>
                <a:uFillTx/>
                <a:latin typeface="Calibri"/>
                <a:ea typeface="Calibri"/>
              </a:rPr>
              <a:t>Why Redis, Not a Database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0"/>
          <p:cNvSpPr/>
          <p:nvPr/>
        </p:nvSpPr>
        <p:spPr>
          <a:xfrm>
            <a:off x="4892040" y="1463040"/>
            <a:ext cx="3702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Execution results are ephemeral  no long-term persistence needed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Sub-millisecond reads/writes for live metrics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TTL on keys for automatic garbage collection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Pub/Sub and Streams for WebSocket event broadcasting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1"/>
          <p:cNvSpPr/>
          <p:nvPr/>
        </p:nvSpPr>
        <p:spPr>
          <a:xfrm>
            <a:off x="4709160" y="2880360"/>
            <a:ext cx="4068720" cy="2011320"/>
          </a:xfrm>
          <a:prstGeom prst="roundRect">
            <a:avLst>
              <a:gd name="adj" fmla="val 5455"/>
            </a:avLst>
          </a:prstGeom>
          <a:solidFill>
            <a:srgbClr val="112240"/>
          </a:solidFill>
          <a:ln w="19050">
            <a:solidFill>
              <a:srgbClr val="7B61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2"/>
          <p:cNvSpPr/>
          <p:nvPr/>
        </p:nvSpPr>
        <p:spPr>
          <a:xfrm>
            <a:off x="4892040" y="299916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B61FF"/>
                </a:solidFill>
                <a:effectLst/>
                <a:uFillTx/>
                <a:latin typeface="Calibri"/>
                <a:ea typeface="Calibri"/>
              </a:rPr>
              <a:t>Execution Lifecycle Events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3"/>
          <p:cNvSpPr/>
          <p:nvPr/>
        </p:nvSpPr>
        <p:spPr>
          <a:xfrm>
            <a:off x="4892040" y="3410640"/>
            <a:ext cx="370296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Execution Created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Container Created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Container Started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Execution Started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Stdout / Stderr Chunk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Execution Completed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Container Removed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34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DC382D"/>
          </a:solidFill>
          <a:ln w="12700">
            <a:solidFill>
              <a:srgbClr val="DC38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8"/>
          <p:cNvSpPr/>
          <p:nvPr/>
        </p:nvSpPr>
        <p:spPr>
          <a:xfrm>
            <a:off x="457200" y="1371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Redis - The State Layer [Continued.]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" name=""/>
          <p:cNvPicPr/>
          <p:nvPr/>
        </p:nvPicPr>
        <p:blipFill>
          <a:blip r:embed="rId1"/>
          <a:stretch/>
        </p:blipFill>
        <p:spPr>
          <a:xfrm>
            <a:off x="419400" y="900000"/>
            <a:ext cx="3216600" cy="794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"/>
          <p:cNvPicPr/>
          <p:nvPr/>
        </p:nvPicPr>
        <p:blipFill>
          <a:blip r:embed="rId2"/>
          <a:srcRect l="0" t="0" r="4539" b="0"/>
          <a:stretch/>
        </p:blipFill>
        <p:spPr>
          <a:xfrm>
            <a:off x="416880" y="1811160"/>
            <a:ext cx="4802760" cy="304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"/>
          <p:cNvPicPr/>
          <p:nvPr/>
        </p:nvPicPr>
        <p:blipFill>
          <a:blip r:embed="rId3"/>
          <a:stretch/>
        </p:blipFill>
        <p:spPr>
          <a:xfrm>
            <a:off x="5400000" y="1476000"/>
            <a:ext cx="3476880" cy="341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457200" y="1371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Real-Time Debug Dashboard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"/>
          <p:cNvSpPr/>
          <p:nvPr/>
        </p:nvSpPr>
        <p:spPr>
          <a:xfrm>
            <a:off x="365760" y="914400"/>
            <a:ext cx="1874160" cy="914040"/>
          </a:xfrm>
          <a:prstGeom prst="roundRect">
            <a:avLst>
              <a:gd name="adj" fmla="val 10000"/>
            </a:avLst>
          </a:prstGeom>
          <a:solidFill>
            <a:srgbClr val="112240"/>
          </a:solidFill>
          <a:ln w="19050">
            <a:solidFill>
              <a:srgbClr val="00C8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365760" y="914400"/>
            <a:ext cx="1874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Tracked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Total Executions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4"/>
          <p:cNvSpPr/>
          <p:nvPr/>
        </p:nvSpPr>
        <p:spPr>
          <a:xfrm>
            <a:off x="2487240" y="914400"/>
            <a:ext cx="1874160" cy="914040"/>
          </a:xfrm>
          <a:prstGeom prst="roundRect">
            <a:avLst>
              <a:gd name="adj" fmla="val 10000"/>
            </a:avLst>
          </a:prstGeom>
          <a:solidFill>
            <a:srgbClr val="112240"/>
          </a:solidFill>
          <a:ln w="19050">
            <a:solidFill>
              <a:srgbClr val="00E59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5"/>
          <p:cNvSpPr/>
          <p:nvPr/>
        </p:nvSpPr>
        <p:spPr>
          <a:xfrm>
            <a:off x="2487240" y="914400"/>
            <a:ext cx="1874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E59B"/>
                </a:solidFill>
                <a:effectLst/>
                <a:uFillTx/>
                <a:latin typeface="Calibri"/>
                <a:ea typeface="Calibri"/>
              </a:rPr>
              <a:t>Live Count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Active Containers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6"/>
          <p:cNvSpPr/>
          <p:nvPr/>
        </p:nvSpPr>
        <p:spPr>
          <a:xfrm>
            <a:off x="4608720" y="914400"/>
            <a:ext cx="1874160" cy="914040"/>
          </a:xfrm>
          <a:prstGeom prst="roundRect">
            <a:avLst>
              <a:gd name="adj" fmla="val 10000"/>
            </a:avLst>
          </a:prstGeom>
          <a:solidFill>
            <a:srgbClr val="112240"/>
          </a:solidFill>
          <a:ln w="19050">
            <a:solidFill>
              <a:srgbClr val="FF6B6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7"/>
          <p:cNvSpPr/>
          <p:nvPr/>
        </p:nvSpPr>
        <p:spPr>
          <a:xfrm>
            <a:off x="4608720" y="914400"/>
            <a:ext cx="1874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6B6B"/>
                </a:solidFill>
                <a:effectLst/>
                <a:uFillTx/>
                <a:latin typeface="Calibri"/>
                <a:ea typeface="Calibri"/>
              </a:rPr>
              <a:t>Alerted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Failed / Timeout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8"/>
          <p:cNvSpPr/>
          <p:nvPr/>
        </p:nvSpPr>
        <p:spPr>
          <a:xfrm>
            <a:off x="6729840" y="914400"/>
            <a:ext cx="1874160" cy="914040"/>
          </a:xfrm>
          <a:prstGeom prst="roundRect">
            <a:avLst>
              <a:gd name="adj" fmla="val 10000"/>
            </a:avLst>
          </a:prstGeom>
          <a:solidFill>
            <a:srgbClr val="112240"/>
          </a:solidFill>
          <a:ln w="19050">
            <a:solidFill>
              <a:srgbClr val="7B61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9"/>
          <p:cNvSpPr/>
          <p:nvPr/>
        </p:nvSpPr>
        <p:spPr>
          <a:xfrm>
            <a:off x="6729840" y="914400"/>
            <a:ext cx="1874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7B61FF"/>
                </a:solidFill>
                <a:effectLst/>
                <a:uFillTx/>
                <a:latin typeface="Calibri"/>
                <a:ea typeface="Calibri"/>
              </a:rPr>
              <a:t>Measured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Avg Duration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0"/>
          <p:cNvSpPr/>
          <p:nvPr/>
        </p:nvSpPr>
        <p:spPr>
          <a:xfrm>
            <a:off x="365760" y="1993320"/>
            <a:ext cx="4114440" cy="2834280"/>
          </a:xfrm>
          <a:prstGeom prst="roundRect">
            <a:avLst>
              <a:gd name="adj" fmla="val 3871"/>
            </a:avLst>
          </a:prstGeom>
          <a:solidFill>
            <a:srgbClr val="112240"/>
          </a:solidFill>
          <a:ln w="19050">
            <a:solidFill>
              <a:srgbClr val="0080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1"/>
          <p:cNvSpPr/>
          <p:nvPr/>
        </p:nvSpPr>
        <p:spPr>
          <a:xfrm>
            <a:off x="548640" y="210312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80FF"/>
                </a:solidFill>
                <a:effectLst/>
                <a:uFillTx/>
                <a:latin typeface="Calibri"/>
                <a:ea typeface="Calibri"/>
              </a:rPr>
              <a:t>Dashboard Features  ( /debug )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548640" y="2541960"/>
            <a:ext cx="374868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Server-wide metrics (total / active / completed / failed)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Table of currently running containers with elapsed time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Live event stream via WebSocket — no refresh needed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Error panel for runtime and container failures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Recent executions list (last 100)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Execution ID, status, duration for every job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3"/>
          <p:cNvSpPr/>
          <p:nvPr/>
        </p:nvSpPr>
        <p:spPr>
          <a:xfrm>
            <a:off x="4709160" y="1993320"/>
            <a:ext cx="4068720" cy="2834280"/>
          </a:xfrm>
          <a:prstGeom prst="roundRect">
            <a:avLst>
              <a:gd name="adj" fmla="val 3871"/>
            </a:avLst>
          </a:prstGeom>
          <a:solidFill>
            <a:srgbClr val="112240"/>
          </a:solidFill>
          <a:ln w="19050">
            <a:solidFill>
              <a:srgbClr val="00E59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4"/>
          <p:cNvSpPr/>
          <p:nvPr/>
        </p:nvSpPr>
        <p:spPr>
          <a:xfrm>
            <a:off x="4892040" y="210312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E59B"/>
                </a:solidFill>
                <a:effectLst/>
                <a:uFillTx/>
                <a:latin typeface="Calibri"/>
                <a:ea typeface="Calibri"/>
              </a:rPr>
              <a:t>WebSocket Event Architecture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5"/>
          <p:cNvSpPr/>
          <p:nvPr/>
        </p:nvSpPr>
        <p:spPr>
          <a:xfrm>
            <a:off x="4892040" y="2541960"/>
            <a:ext cx="3702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FastAPI Event  </a:t>
            </a: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Every container action generates an event object with type, execution_id, and timestamp.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6"/>
          <p:cNvSpPr/>
          <p:nvPr/>
        </p:nvSpPr>
        <p:spPr>
          <a:xfrm>
            <a:off x="5029200" y="3017520"/>
            <a:ext cx="3383280" cy="360"/>
          </a:xfrm>
          <a:prstGeom prst="line">
            <a:avLst/>
          </a:prstGeom>
          <a:ln w="9525">
            <a:solidFill>
              <a:srgbClr val="1E3A5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7"/>
          <p:cNvSpPr/>
          <p:nvPr/>
        </p:nvSpPr>
        <p:spPr>
          <a:xfrm>
            <a:off x="4892040" y="3081600"/>
            <a:ext cx="3702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Redis Store  </a:t>
            </a: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Event is appended to execution:{id}:events list and the global events stream.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8"/>
          <p:cNvSpPr/>
          <p:nvPr/>
        </p:nvSpPr>
        <p:spPr>
          <a:xfrm>
            <a:off x="5029200" y="3556800"/>
            <a:ext cx="3383280" cy="360"/>
          </a:xfrm>
          <a:prstGeom prst="line">
            <a:avLst/>
          </a:prstGeom>
          <a:ln w="9525">
            <a:solidFill>
              <a:srgbClr val="1E3A5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9"/>
          <p:cNvSpPr/>
          <p:nvPr/>
        </p:nvSpPr>
        <p:spPr>
          <a:xfrm>
            <a:off x="4892040" y="3620880"/>
            <a:ext cx="3702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Broadcast  </a:t>
            </a: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WebSocket manager iterates all connected /ws/debug clients and pushes the JSON event.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0"/>
          <p:cNvSpPr/>
          <p:nvPr/>
        </p:nvSpPr>
        <p:spPr>
          <a:xfrm>
            <a:off x="5029200" y="4096440"/>
            <a:ext cx="3383280" cy="360"/>
          </a:xfrm>
          <a:prstGeom prst="line">
            <a:avLst/>
          </a:prstGeom>
          <a:ln w="9525">
            <a:solidFill>
              <a:srgbClr val="1E3A5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1"/>
          <p:cNvSpPr/>
          <p:nvPr/>
        </p:nvSpPr>
        <p:spPr>
          <a:xfrm>
            <a:off x="4892040" y="4160520"/>
            <a:ext cx="3702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Dashboard Update  </a:t>
            </a: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JavaScript receives event, parses JSON, and updates the relevant UI panel in real time.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9"/>
          <p:cNvSpPr/>
          <p:nvPr/>
        </p:nvSpPr>
        <p:spPr>
          <a:xfrm>
            <a:off x="457200" y="1371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Real-Time Debug Dashboard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" name=""/>
          <p:cNvPicPr/>
          <p:nvPr/>
        </p:nvPicPr>
        <p:blipFill>
          <a:blip r:embed="rId1"/>
          <a:stretch/>
        </p:blipFill>
        <p:spPr>
          <a:xfrm>
            <a:off x="504360" y="756720"/>
            <a:ext cx="7955640" cy="4103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080FF"/>
          </a:solidFill>
          <a:ln w="12700">
            <a:solidFill>
              <a:srgbClr val="008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57200" y="1371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 Reference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347400" y="914400"/>
            <a:ext cx="4205880" cy="1298160"/>
          </a:xfrm>
          <a:prstGeom prst="roundRect">
            <a:avLst>
              <a:gd name="adj" fmla="val 7042"/>
            </a:avLst>
          </a:prstGeom>
          <a:solidFill>
            <a:srgbClr val="112240"/>
          </a:solidFill>
          <a:ln w="12700">
            <a:solidFill>
              <a:srgbClr val="00E59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"/>
          <p:cNvSpPr/>
          <p:nvPr/>
        </p:nvSpPr>
        <p:spPr>
          <a:xfrm>
            <a:off x="438840" y="1005840"/>
            <a:ext cx="502560" cy="237240"/>
          </a:xfrm>
          <a:prstGeom prst="roundRect">
            <a:avLst>
              <a:gd name="adj" fmla="val 23077"/>
            </a:avLst>
          </a:prstGeom>
          <a:solidFill>
            <a:srgbClr val="00E59B">
              <a:alpha val="75000"/>
            </a:srgbClr>
          </a:solidFill>
          <a:ln w="6350">
            <a:solidFill>
              <a:srgbClr val="00E5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438840" y="100584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1005840" y="101484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C8FF"/>
                </a:solidFill>
                <a:effectLst/>
                <a:uFillTx/>
                <a:latin typeface="Courier New"/>
                <a:ea typeface="Courier New"/>
              </a:rPr>
              <a:t>/api/execute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438840" y="131688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Submit Python code. Returns execution_id immediately. Code begins running in a new container.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438840" y="173736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ourier New"/>
                <a:ea typeface="Courier New"/>
              </a:rPr>
              <a:t>Response: { "execution_id": "uuid-..." }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8"/>
          <p:cNvSpPr/>
          <p:nvPr/>
        </p:nvSpPr>
        <p:spPr>
          <a:xfrm>
            <a:off x="4827960" y="914400"/>
            <a:ext cx="4205880" cy="1298160"/>
          </a:xfrm>
          <a:prstGeom prst="roundRect">
            <a:avLst>
              <a:gd name="adj" fmla="val 7042"/>
            </a:avLst>
          </a:prstGeom>
          <a:solidFill>
            <a:srgbClr val="112240"/>
          </a:solidFill>
          <a:ln w="12700">
            <a:solidFill>
              <a:srgbClr val="0080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9"/>
          <p:cNvSpPr/>
          <p:nvPr/>
        </p:nvSpPr>
        <p:spPr>
          <a:xfrm>
            <a:off x="4919400" y="1005840"/>
            <a:ext cx="502560" cy="237240"/>
          </a:xfrm>
          <a:prstGeom prst="roundRect">
            <a:avLst>
              <a:gd name="adj" fmla="val 23077"/>
            </a:avLst>
          </a:prstGeom>
          <a:solidFill>
            <a:srgbClr val="0080FF">
              <a:alpha val="75000"/>
            </a:srgbClr>
          </a:solidFill>
          <a:ln w="6350">
            <a:solidFill>
              <a:srgbClr val="008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0"/>
          <p:cNvSpPr/>
          <p:nvPr/>
        </p:nvSpPr>
        <p:spPr>
          <a:xfrm>
            <a:off x="4919400" y="100584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5486400" y="101484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C8FF"/>
                </a:solidFill>
                <a:effectLst/>
                <a:uFillTx/>
                <a:latin typeface="Courier New"/>
                <a:ea typeface="Courier New"/>
              </a:rPr>
              <a:t>/api/execution/{id}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4919400" y="131688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Poll execution status. Returns status, stdout, stderr, and duration once complete.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4919400" y="173736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ourier New"/>
                <a:ea typeface="Courier New"/>
              </a:rPr>
              <a:t>Response: { "status": "COMPLETED", "stdout": "...", "stderr": "...", "duration": 0.43 }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4"/>
          <p:cNvSpPr/>
          <p:nvPr/>
        </p:nvSpPr>
        <p:spPr>
          <a:xfrm>
            <a:off x="347400" y="2331720"/>
            <a:ext cx="4205880" cy="1298160"/>
          </a:xfrm>
          <a:prstGeom prst="roundRect">
            <a:avLst>
              <a:gd name="adj" fmla="val 7042"/>
            </a:avLst>
          </a:prstGeom>
          <a:solidFill>
            <a:srgbClr val="112240"/>
          </a:solidFill>
          <a:ln w="12700">
            <a:solidFill>
              <a:srgbClr val="0080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5"/>
          <p:cNvSpPr/>
          <p:nvPr/>
        </p:nvSpPr>
        <p:spPr>
          <a:xfrm>
            <a:off x="438840" y="2423160"/>
            <a:ext cx="502560" cy="237240"/>
          </a:xfrm>
          <a:prstGeom prst="roundRect">
            <a:avLst>
              <a:gd name="adj" fmla="val 23077"/>
            </a:avLst>
          </a:prstGeom>
          <a:solidFill>
            <a:srgbClr val="0080FF">
              <a:alpha val="75000"/>
            </a:srgbClr>
          </a:solidFill>
          <a:ln w="6350">
            <a:solidFill>
              <a:srgbClr val="008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6"/>
          <p:cNvSpPr/>
          <p:nvPr/>
        </p:nvSpPr>
        <p:spPr>
          <a:xfrm>
            <a:off x="438840" y="242316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7"/>
          <p:cNvSpPr/>
          <p:nvPr/>
        </p:nvSpPr>
        <p:spPr>
          <a:xfrm>
            <a:off x="1005840" y="243216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C8FF"/>
                </a:solidFill>
                <a:effectLst/>
                <a:uFillTx/>
                <a:latin typeface="Courier New"/>
                <a:ea typeface="Courier New"/>
              </a:rPr>
              <a:t>/api/execution/{id}/logs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8"/>
          <p:cNvSpPr/>
          <p:nvPr/>
        </p:nvSpPr>
        <p:spPr>
          <a:xfrm>
            <a:off x="438840" y="27342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Retrieve full ordered event log for a specific execution.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9"/>
          <p:cNvSpPr/>
          <p:nvPr/>
        </p:nvSpPr>
        <p:spPr>
          <a:xfrm>
            <a:off x="438840" y="315468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ourier New"/>
                <a:ea typeface="Courier New"/>
              </a:rPr>
              <a:t>Response: [ { "event": "EXECUTION_STARTED", "ts": "..." }, ... ]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0"/>
          <p:cNvSpPr/>
          <p:nvPr/>
        </p:nvSpPr>
        <p:spPr>
          <a:xfrm>
            <a:off x="4827960" y="2331720"/>
            <a:ext cx="4205880" cy="1298160"/>
          </a:xfrm>
          <a:prstGeom prst="roundRect">
            <a:avLst>
              <a:gd name="adj" fmla="val 7042"/>
            </a:avLst>
          </a:prstGeom>
          <a:solidFill>
            <a:srgbClr val="112240"/>
          </a:solidFill>
          <a:ln w="12700">
            <a:solidFill>
              <a:srgbClr val="00C8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1"/>
          <p:cNvSpPr/>
          <p:nvPr/>
        </p:nvSpPr>
        <p:spPr>
          <a:xfrm>
            <a:off x="4919400" y="2423160"/>
            <a:ext cx="502560" cy="237240"/>
          </a:xfrm>
          <a:prstGeom prst="roundRect">
            <a:avLst>
              <a:gd name="adj" fmla="val 23077"/>
            </a:avLst>
          </a:prstGeom>
          <a:solidFill>
            <a:srgbClr val="00C8FF">
              <a:alpha val="75000"/>
            </a:srgbClr>
          </a:solidFill>
          <a:ln w="635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2"/>
          <p:cNvSpPr/>
          <p:nvPr/>
        </p:nvSpPr>
        <p:spPr>
          <a:xfrm>
            <a:off x="4919400" y="242316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3"/>
          <p:cNvSpPr/>
          <p:nvPr/>
        </p:nvSpPr>
        <p:spPr>
          <a:xfrm>
            <a:off x="5486400" y="243216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C8FF"/>
                </a:solidFill>
                <a:effectLst/>
                <a:uFillTx/>
                <a:latin typeface="Courier New"/>
                <a:ea typeface="Courier New"/>
              </a:rPr>
              <a:t>/api/metrics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4"/>
          <p:cNvSpPr/>
          <p:nvPr/>
        </p:nvSpPr>
        <p:spPr>
          <a:xfrm>
            <a:off x="4919400" y="27342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Returns global counters: active, completed, failed, timeout executions.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5"/>
          <p:cNvSpPr/>
          <p:nvPr/>
        </p:nvSpPr>
        <p:spPr>
          <a:xfrm>
            <a:off x="4919400" y="315468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ourier New"/>
                <a:ea typeface="Courier New"/>
              </a:rPr>
              <a:t>Response: { "active": 2, "completed": 47, "failed": 3, "timeout": 1 }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6"/>
          <p:cNvSpPr/>
          <p:nvPr/>
        </p:nvSpPr>
        <p:spPr>
          <a:xfrm>
            <a:off x="347400" y="3749040"/>
            <a:ext cx="4205880" cy="1298160"/>
          </a:xfrm>
          <a:prstGeom prst="roundRect">
            <a:avLst>
              <a:gd name="adj" fmla="val 7042"/>
            </a:avLst>
          </a:prstGeom>
          <a:solidFill>
            <a:srgbClr val="112240"/>
          </a:solidFill>
          <a:ln w="12700">
            <a:solidFill>
              <a:srgbClr val="00C8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7"/>
          <p:cNvSpPr/>
          <p:nvPr/>
        </p:nvSpPr>
        <p:spPr>
          <a:xfrm>
            <a:off x="438840" y="3840480"/>
            <a:ext cx="502560" cy="237240"/>
          </a:xfrm>
          <a:prstGeom prst="roundRect">
            <a:avLst>
              <a:gd name="adj" fmla="val 23077"/>
            </a:avLst>
          </a:prstGeom>
          <a:solidFill>
            <a:srgbClr val="00C8FF">
              <a:alpha val="75000"/>
            </a:srgbClr>
          </a:solidFill>
          <a:ln w="635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8"/>
          <p:cNvSpPr/>
          <p:nvPr/>
        </p:nvSpPr>
        <p:spPr>
          <a:xfrm>
            <a:off x="438840" y="384048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9"/>
          <p:cNvSpPr/>
          <p:nvPr/>
        </p:nvSpPr>
        <p:spPr>
          <a:xfrm>
            <a:off x="1005840" y="384948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C8FF"/>
                </a:solidFill>
                <a:effectLst/>
                <a:uFillTx/>
                <a:latin typeface="Courier New"/>
                <a:ea typeface="Courier New"/>
              </a:rPr>
              <a:t>/api/events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0"/>
          <p:cNvSpPr/>
          <p:nvPr/>
        </p:nvSpPr>
        <p:spPr>
          <a:xfrm>
            <a:off x="438840" y="415152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Returns the last 100 events from the global event stream.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1"/>
          <p:cNvSpPr/>
          <p:nvPr/>
        </p:nvSpPr>
        <p:spPr>
          <a:xfrm>
            <a:off x="438840" y="457200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ourier New"/>
                <a:ea typeface="Courier New"/>
              </a:rPr>
              <a:t>Response: [ { "type": "CONTAINER_REMOVED", "id": "..." }, ... ]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32"/>
          <p:cNvSpPr/>
          <p:nvPr/>
        </p:nvSpPr>
        <p:spPr>
          <a:xfrm>
            <a:off x="4827960" y="3749040"/>
            <a:ext cx="4205880" cy="1298160"/>
          </a:xfrm>
          <a:prstGeom prst="roundRect">
            <a:avLst>
              <a:gd name="adj" fmla="val 7042"/>
            </a:avLst>
          </a:prstGeom>
          <a:solidFill>
            <a:srgbClr val="112240"/>
          </a:solidFill>
          <a:ln w="12700">
            <a:solidFill>
              <a:srgbClr val="7B61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33"/>
          <p:cNvSpPr/>
          <p:nvPr/>
        </p:nvSpPr>
        <p:spPr>
          <a:xfrm>
            <a:off x="4919400" y="3840480"/>
            <a:ext cx="502560" cy="237240"/>
          </a:xfrm>
          <a:prstGeom prst="roundRect">
            <a:avLst>
              <a:gd name="adj" fmla="val 23077"/>
            </a:avLst>
          </a:prstGeom>
          <a:solidFill>
            <a:srgbClr val="7B61FF">
              <a:alpha val="75000"/>
            </a:srgbClr>
          </a:solidFill>
          <a:ln w="6350">
            <a:solidFill>
              <a:srgbClr val="7B61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34"/>
          <p:cNvSpPr/>
          <p:nvPr/>
        </p:nvSpPr>
        <p:spPr>
          <a:xfrm>
            <a:off x="4919400" y="384048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35"/>
          <p:cNvSpPr/>
          <p:nvPr/>
        </p:nvSpPr>
        <p:spPr>
          <a:xfrm>
            <a:off x="5486400" y="384948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C8FF"/>
                </a:solidFill>
                <a:effectLst/>
                <a:uFillTx/>
                <a:latin typeface="Courier New"/>
                <a:ea typeface="Courier New"/>
              </a:rPr>
              <a:t>/ws/debug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6"/>
          <p:cNvSpPr/>
          <p:nvPr/>
        </p:nvSpPr>
        <p:spPr>
          <a:xfrm>
            <a:off x="4919400" y="415152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Persistent WebSocket. Server pushes every execution event in real time to the debug dashboard.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7"/>
          <p:cNvSpPr/>
          <p:nvPr/>
        </p:nvSpPr>
        <p:spPr>
          <a:xfrm>
            <a:off x="4919400" y="457200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ourier New"/>
                <a:ea typeface="Courier New"/>
              </a:rPr>
              <a:t>Response: { "type": "EXECUTION_COMPLETED", "execution_id": "...", "ts": "..." }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0E59B"/>
          </a:solidFill>
          <a:ln w="12700">
            <a:solidFill>
              <a:srgbClr val="00E5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"/>
          <p:cNvSpPr/>
          <p:nvPr/>
        </p:nvSpPr>
        <p:spPr>
          <a:xfrm>
            <a:off x="457200" y="1371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VCC Concepts Demonstrated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"/>
          <p:cNvSpPr/>
          <p:nvPr/>
        </p:nvSpPr>
        <p:spPr>
          <a:xfrm>
            <a:off x="347400" y="914400"/>
            <a:ext cx="4205880" cy="1901520"/>
          </a:xfrm>
          <a:prstGeom prst="roundRect">
            <a:avLst>
              <a:gd name="adj" fmla="val 5769"/>
            </a:avLst>
          </a:prstGeom>
          <a:solidFill>
            <a:srgbClr val="112240"/>
          </a:solidFill>
          <a:ln w="19050">
            <a:solidFill>
              <a:srgbClr val="00C8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3"/>
          <p:cNvSpPr/>
          <p:nvPr/>
        </p:nvSpPr>
        <p:spPr>
          <a:xfrm>
            <a:off x="484560" y="102420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OS-Level Virtualization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4"/>
          <p:cNvSpPr/>
          <p:nvPr/>
        </p:nvSpPr>
        <p:spPr>
          <a:xfrm>
            <a:off x="484560" y="1444680"/>
            <a:ext cx="39315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Docker containers share the Linux kernel but are isolated via namespaces (PID, NET, MNT, UTS, IPC)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cgroups enforce CPU and memory limits — the kernel ensures no container exceeds its quota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This is the foundation of container technology as covered in VCC theory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5"/>
          <p:cNvSpPr/>
          <p:nvPr/>
        </p:nvSpPr>
        <p:spPr>
          <a:xfrm>
            <a:off x="4809600" y="914400"/>
            <a:ext cx="4205880" cy="1901520"/>
          </a:xfrm>
          <a:prstGeom prst="roundRect">
            <a:avLst>
              <a:gd name="adj" fmla="val 5769"/>
            </a:avLst>
          </a:prstGeom>
          <a:solidFill>
            <a:srgbClr val="112240"/>
          </a:solidFill>
          <a:ln w="19050">
            <a:solidFill>
              <a:srgbClr val="00E59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6"/>
          <p:cNvSpPr/>
          <p:nvPr/>
        </p:nvSpPr>
        <p:spPr>
          <a:xfrm>
            <a:off x="4946760" y="102420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E59B"/>
                </a:solidFill>
                <a:effectLst/>
                <a:uFillTx/>
                <a:latin typeface="Calibri"/>
                <a:ea typeface="Calibri"/>
              </a:rPr>
              <a:t>Container Lifecycle Management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7"/>
          <p:cNvSpPr/>
          <p:nvPr/>
        </p:nvSpPr>
        <p:spPr>
          <a:xfrm>
            <a:off x="4946760" y="1444680"/>
            <a:ext cx="39315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Every code execution triggers: pull-if-needed → create → start → exec → capture → stop → remove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Ephemeral containers — no state survives between executions, mirroring cloud function semantics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The Docker SDK abstracts the Docker Engine API into Python-native calls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8"/>
          <p:cNvSpPr/>
          <p:nvPr/>
        </p:nvSpPr>
        <p:spPr>
          <a:xfrm>
            <a:off x="347400" y="2971800"/>
            <a:ext cx="4205880" cy="1901520"/>
          </a:xfrm>
          <a:prstGeom prst="roundRect">
            <a:avLst>
              <a:gd name="adj" fmla="val 5769"/>
            </a:avLst>
          </a:prstGeom>
          <a:solidFill>
            <a:srgbClr val="112240"/>
          </a:solidFill>
          <a:ln w="19050">
            <a:solidFill>
              <a:srgbClr val="7B61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9"/>
          <p:cNvSpPr/>
          <p:nvPr/>
        </p:nvSpPr>
        <p:spPr>
          <a:xfrm>
            <a:off x="484560" y="308160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B61FF"/>
                </a:solidFill>
                <a:effectLst/>
                <a:uFillTx/>
                <a:latin typeface="Calibri"/>
                <a:ea typeface="Calibri"/>
              </a:rPr>
              <a:t>Resource Isolation &amp; Limits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0"/>
          <p:cNvSpPr/>
          <p:nvPr/>
        </p:nvSpPr>
        <p:spPr>
          <a:xfrm>
            <a:off x="484560" y="3502080"/>
            <a:ext cx="39315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mem_limit=256m, cpu_period/cpu_quota set to 1 core equivalent via Docker run parameters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Execution timeout enforced by the FastAPI service — container is force-killed at 30s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STATUS=TIMEOUT and STATUS=MEMORY_LIMIT_EXCEEDED map to real container exit conditions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1"/>
          <p:cNvSpPr/>
          <p:nvPr/>
        </p:nvSpPr>
        <p:spPr>
          <a:xfrm>
            <a:off x="4809600" y="2971800"/>
            <a:ext cx="4205880" cy="1901520"/>
          </a:xfrm>
          <a:prstGeom prst="roundRect">
            <a:avLst>
              <a:gd name="adj" fmla="val 5769"/>
            </a:avLst>
          </a:prstGeom>
          <a:solidFill>
            <a:srgbClr val="112240"/>
          </a:solidFill>
          <a:ln w="19050">
            <a:solidFill>
              <a:srgbClr val="DC38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2"/>
          <p:cNvSpPr/>
          <p:nvPr/>
        </p:nvSpPr>
        <p:spPr>
          <a:xfrm>
            <a:off x="4946760" y="308160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DC382D"/>
                </a:solidFill>
                <a:effectLst/>
                <a:uFillTx/>
                <a:latin typeface="Calibri"/>
                <a:ea typeface="Calibri"/>
              </a:rPr>
              <a:t>Cloud-Native Patterns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3"/>
          <p:cNvSpPr/>
          <p:nvPr/>
        </p:nvSpPr>
        <p:spPr>
          <a:xfrm>
            <a:off x="4946760" y="3502080"/>
            <a:ext cx="39315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Stateless execution: no local disk, no persistent connection between runs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Horizontal scalability: multiple containers can run concurrently on the same VM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Observability: metrics, logs, and event streaming mirror production cloud monitoring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457200" y="1371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Project Structure &amp; Deployment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"/>
          <p:cNvSpPr/>
          <p:nvPr/>
        </p:nvSpPr>
        <p:spPr>
          <a:xfrm>
            <a:off x="365760" y="914400"/>
            <a:ext cx="4114440" cy="3977280"/>
          </a:xfrm>
          <a:prstGeom prst="roundRect">
            <a:avLst>
              <a:gd name="adj" fmla="val 2759"/>
            </a:avLst>
          </a:prstGeom>
          <a:solidFill>
            <a:srgbClr val="112240"/>
          </a:solidFill>
          <a:ln w="19050">
            <a:solidFill>
              <a:srgbClr val="7B61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548640" y="102420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B61FF"/>
                </a:solidFill>
                <a:effectLst/>
                <a:uFillTx/>
                <a:latin typeface="Calibri"/>
                <a:ea typeface="Calibri"/>
              </a:rPr>
              <a:t>Repository Layout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594360" y="1463040"/>
            <a:ext cx="3748680" cy="33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C8FF"/>
                </a:solidFill>
                <a:effectLst/>
                <a:uFillTx/>
                <a:latin typeface="Courier New"/>
                <a:ea typeface="Courier New"/>
              </a:rPr>
              <a:t>cloud-ide/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C8FF"/>
                </a:solidFill>
                <a:effectLst/>
                <a:uFillTx/>
                <a:latin typeface="Courier New"/>
                <a:ea typeface="Courier New"/>
              </a:rPr>
              <a:t>  backend/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0C4DE"/>
                </a:solidFill>
                <a:effectLst/>
                <a:uFillTx/>
                <a:latin typeface="Courier New"/>
                <a:ea typeface="Courier New"/>
              </a:rPr>
              <a:t>    main.py              FastAPI app entry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0C4DE"/>
                </a:solidFill>
                <a:effectLst/>
                <a:uFillTx/>
                <a:latin typeface="Courier New"/>
                <a:ea typeface="Courier New"/>
              </a:rPr>
              <a:t>    config.py            Env + resource config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0C4DE"/>
                </a:solidFill>
                <a:effectLst/>
                <a:uFillTx/>
                <a:latin typeface="Courier New"/>
                <a:ea typeface="Courier New"/>
              </a:rPr>
              <a:t>    routes/              API route handlers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0C4DE"/>
                </a:solidFill>
                <a:effectLst/>
                <a:uFillTx/>
                <a:latin typeface="Courier New"/>
                <a:ea typeface="Courier New"/>
              </a:rPr>
              <a:t>    services/            Execution business logic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0C4DE"/>
                </a:solidFill>
                <a:effectLst/>
                <a:uFillTx/>
                <a:latin typeface="Courier New"/>
                <a:ea typeface="Courier New"/>
              </a:rPr>
              <a:t>    websocket/           WS broadcast manager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0C4DE"/>
                </a:solidFill>
                <a:effectLst/>
                <a:uFillTx/>
                <a:latin typeface="Courier New"/>
                <a:ea typeface="Courier New"/>
              </a:rPr>
              <a:t>    redis_manager.py     Redis client wrapper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C8FF"/>
                </a:solidFill>
                <a:effectLst/>
                <a:uFillTx/>
                <a:latin typeface="Courier New"/>
                <a:ea typeface="Courier New"/>
              </a:rPr>
              <a:t>  frontend/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0C4DE"/>
                </a:solidFill>
                <a:effectLst/>
                <a:uFillTx/>
                <a:latin typeface="Courier New"/>
                <a:ea typeface="Courier New"/>
              </a:rPr>
              <a:t>    index.html           Main IDE UI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0C4DE"/>
                </a:solidFill>
                <a:effectLst/>
                <a:uFillTx/>
                <a:latin typeface="Courier New"/>
                <a:ea typeface="Courier New"/>
              </a:rPr>
              <a:t>    debug.html           Live dashboard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0C4DE"/>
                </a:solidFill>
                <a:effectLst/>
                <a:uFillTx/>
                <a:latin typeface="Courier New"/>
                <a:ea typeface="Courier New"/>
              </a:rPr>
              <a:t>    app.js / debug.js    Client-side logic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0C4DE"/>
                </a:solidFill>
                <a:effectLst/>
                <a:uFillTx/>
                <a:latin typeface="Courier New"/>
                <a:ea typeface="Courier New"/>
              </a:rPr>
              <a:t>    styles.css           Shared styling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C8FF"/>
                </a:solidFill>
                <a:effectLst/>
                <a:uFillTx/>
                <a:latin typeface="Courier New"/>
                <a:ea typeface="Courier New"/>
              </a:rPr>
              <a:t>  runner/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0C4DE"/>
                </a:solidFill>
                <a:effectLst/>
                <a:uFillTx/>
                <a:latin typeface="Courier New"/>
                <a:ea typeface="Courier New"/>
              </a:rPr>
              <a:t>    Dockerfile           Python execution image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0C4DE"/>
                </a:solidFill>
                <a:effectLst/>
                <a:uFillTx/>
                <a:latin typeface="Courier New"/>
                <a:ea typeface="Courier New"/>
              </a:rPr>
              <a:t>    requirements.txt     Pre-installed packages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0C4DE"/>
                </a:solidFill>
                <a:effectLst/>
                <a:uFillTx/>
                <a:latin typeface="Courier New"/>
                <a:ea typeface="Courier New"/>
              </a:rPr>
              <a:t>  docker-compose.yml     Service orchestration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5"/>
          <p:cNvSpPr/>
          <p:nvPr/>
        </p:nvSpPr>
        <p:spPr>
          <a:xfrm>
            <a:off x="4709160" y="914400"/>
            <a:ext cx="4068720" cy="1919880"/>
          </a:xfrm>
          <a:prstGeom prst="roundRect">
            <a:avLst>
              <a:gd name="adj" fmla="val 5714"/>
            </a:avLst>
          </a:prstGeom>
          <a:solidFill>
            <a:srgbClr val="112240"/>
          </a:solidFill>
          <a:ln w="19050">
            <a:solidFill>
              <a:srgbClr val="0080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4892040" y="102420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80FF"/>
                </a:solidFill>
                <a:effectLst/>
                <a:uFillTx/>
                <a:latin typeface="Calibri"/>
                <a:ea typeface="Calibri"/>
              </a:rPr>
              <a:t>Docker Compose Services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7"/>
          <p:cNvSpPr/>
          <p:nvPr/>
        </p:nvSpPr>
        <p:spPr>
          <a:xfrm>
            <a:off x="4892040" y="148140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backend  </a:t>
            </a: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FastAPI + Uvicorn. Mounts Docker socket to spawn containers.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8"/>
          <p:cNvSpPr/>
          <p:nvPr/>
        </p:nvSpPr>
        <p:spPr>
          <a:xfrm>
            <a:off x="4892040" y="188352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redis  </a:t>
            </a: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Redis 7 Alpine. In-memory state store. No persistence volume.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4892040" y="228600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runner (image)  </a:t>
            </a:r>
            <a:r>
              <a:rPr lang="en-US" sz="10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python:3.12-slim with pre-installed packages. Built once, reused per execution.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0"/>
          <p:cNvSpPr/>
          <p:nvPr/>
        </p:nvSpPr>
        <p:spPr>
          <a:xfrm>
            <a:off x="4709160" y="2971800"/>
            <a:ext cx="4068720" cy="1919880"/>
          </a:xfrm>
          <a:prstGeom prst="roundRect">
            <a:avLst>
              <a:gd name="adj" fmla="val 5714"/>
            </a:avLst>
          </a:prstGeom>
          <a:solidFill>
            <a:srgbClr val="112240"/>
          </a:solidFill>
          <a:ln w="19050">
            <a:solidFill>
              <a:srgbClr val="00E59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1"/>
          <p:cNvSpPr/>
          <p:nvPr/>
        </p:nvSpPr>
        <p:spPr>
          <a:xfrm>
            <a:off x="4892040" y="308160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E59B"/>
                </a:solidFill>
                <a:effectLst/>
                <a:uFillTx/>
                <a:latin typeface="Calibri"/>
                <a:ea typeface="Calibri"/>
              </a:rPr>
              <a:t>Deployment on Virtual Machine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2"/>
          <p:cNvSpPr/>
          <p:nvPr/>
        </p:nvSpPr>
        <p:spPr>
          <a:xfrm>
            <a:off x="4892040" y="3520440"/>
            <a:ext cx="37029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Ubuntu 24 VM with Docker and Docker Compose installed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git clone → docker-compose up --build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Live at cloudide.webhop.me via webhop DNS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C4D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Backend exposed on port 8000, fronted by the VM's public IP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"/>
          <p:cNvSpPr/>
          <p:nvPr/>
        </p:nvSpPr>
        <p:spPr>
          <a:xfrm>
            <a:off x="457200" y="1371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Live Demo &amp; Access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2"/>
          <p:cNvSpPr/>
          <p:nvPr/>
        </p:nvSpPr>
        <p:spPr>
          <a:xfrm>
            <a:off x="360000" y="900000"/>
            <a:ext cx="8412120" cy="720000"/>
          </a:xfrm>
          <a:prstGeom prst="roundRect">
            <a:avLst>
              <a:gd name="adj" fmla="val 12245"/>
            </a:avLst>
          </a:prstGeom>
          <a:solidFill>
            <a:srgbClr val="112240"/>
          </a:solidFill>
          <a:ln w="19050">
            <a:solidFill>
              <a:srgbClr val="0080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3"/>
          <p:cNvSpPr/>
          <p:nvPr/>
        </p:nvSpPr>
        <p:spPr>
          <a:xfrm>
            <a:off x="469800" y="958680"/>
            <a:ext cx="1005480" cy="220320"/>
          </a:xfrm>
          <a:prstGeom prst="roundRect">
            <a:avLst>
              <a:gd name="adj" fmla="val 26667"/>
            </a:avLst>
          </a:prstGeom>
          <a:solidFill>
            <a:srgbClr val="0080FF">
              <a:alpha val="80000"/>
            </a:srgbClr>
          </a:solidFill>
          <a:ln w="6350">
            <a:solidFill>
              <a:srgbClr val="008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"/>
          <p:cNvSpPr/>
          <p:nvPr/>
        </p:nvSpPr>
        <p:spPr>
          <a:xfrm>
            <a:off x="469800" y="958680"/>
            <a:ext cx="100548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Main IDE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5"/>
          <p:cNvSpPr/>
          <p:nvPr/>
        </p:nvSpPr>
        <p:spPr>
          <a:xfrm>
            <a:off x="1567080" y="966240"/>
            <a:ext cx="3657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C8FF"/>
                </a:solidFill>
                <a:effectLst/>
                <a:uFillTx/>
                <a:latin typeface="Courier New"/>
                <a:ea typeface="Courier New"/>
              </a:rPr>
              <a:t>cloudide.webhop.me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6"/>
          <p:cNvSpPr/>
          <p:nvPr/>
        </p:nvSpPr>
        <p:spPr>
          <a:xfrm>
            <a:off x="1567080" y="1282320"/>
            <a:ext cx="694908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Write and execute Python. View stdout, stderr, execution time.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7"/>
          <p:cNvSpPr/>
          <p:nvPr/>
        </p:nvSpPr>
        <p:spPr>
          <a:xfrm>
            <a:off x="360000" y="1723320"/>
            <a:ext cx="8412120" cy="720000"/>
          </a:xfrm>
          <a:prstGeom prst="roundRect">
            <a:avLst>
              <a:gd name="adj" fmla="val 12245"/>
            </a:avLst>
          </a:prstGeom>
          <a:solidFill>
            <a:srgbClr val="112240"/>
          </a:solidFill>
          <a:ln w="19050">
            <a:solidFill>
              <a:srgbClr val="00E59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8"/>
          <p:cNvSpPr/>
          <p:nvPr/>
        </p:nvSpPr>
        <p:spPr>
          <a:xfrm>
            <a:off x="469800" y="1782000"/>
            <a:ext cx="1005480" cy="220320"/>
          </a:xfrm>
          <a:prstGeom prst="roundRect">
            <a:avLst>
              <a:gd name="adj" fmla="val 26667"/>
            </a:avLst>
          </a:prstGeom>
          <a:solidFill>
            <a:srgbClr val="00E59B">
              <a:alpha val="80000"/>
            </a:srgbClr>
          </a:solidFill>
          <a:ln w="6350">
            <a:solidFill>
              <a:srgbClr val="00E5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9"/>
          <p:cNvSpPr/>
          <p:nvPr/>
        </p:nvSpPr>
        <p:spPr>
          <a:xfrm>
            <a:off x="469800" y="1782000"/>
            <a:ext cx="100548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Debug Dashboard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0"/>
          <p:cNvSpPr/>
          <p:nvPr/>
        </p:nvSpPr>
        <p:spPr>
          <a:xfrm>
            <a:off x="1567080" y="1789200"/>
            <a:ext cx="3657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C8FF"/>
                </a:solidFill>
                <a:effectLst/>
                <a:uFillTx/>
                <a:latin typeface="Courier New"/>
                <a:ea typeface="Courier New"/>
              </a:rPr>
              <a:t>cloudide.webhop.me/debug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1"/>
          <p:cNvSpPr/>
          <p:nvPr/>
        </p:nvSpPr>
        <p:spPr>
          <a:xfrm>
            <a:off x="1567080" y="2105640"/>
            <a:ext cx="694908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Live monitoring. WebSocket event stream. Container metrics.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2"/>
          <p:cNvSpPr/>
          <p:nvPr/>
        </p:nvSpPr>
        <p:spPr>
          <a:xfrm>
            <a:off x="360000" y="2546640"/>
            <a:ext cx="8412120" cy="720360"/>
          </a:xfrm>
          <a:prstGeom prst="roundRect">
            <a:avLst>
              <a:gd name="adj" fmla="val 12245"/>
            </a:avLst>
          </a:prstGeom>
          <a:solidFill>
            <a:srgbClr val="112240"/>
          </a:solidFill>
          <a:ln w="19050">
            <a:solidFill>
              <a:srgbClr val="7B61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3"/>
          <p:cNvSpPr/>
          <p:nvPr/>
        </p:nvSpPr>
        <p:spPr>
          <a:xfrm>
            <a:off x="469800" y="2605680"/>
            <a:ext cx="1005480" cy="219960"/>
          </a:xfrm>
          <a:prstGeom prst="roundRect">
            <a:avLst>
              <a:gd name="adj" fmla="val 26667"/>
            </a:avLst>
          </a:prstGeom>
          <a:solidFill>
            <a:srgbClr val="7B61FF">
              <a:alpha val="80000"/>
            </a:srgbClr>
          </a:solidFill>
          <a:ln w="6350">
            <a:solidFill>
              <a:srgbClr val="7B61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4"/>
          <p:cNvSpPr/>
          <p:nvPr/>
        </p:nvSpPr>
        <p:spPr>
          <a:xfrm>
            <a:off x="469800" y="2605680"/>
            <a:ext cx="100548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 Docs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5"/>
          <p:cNvSpPr/>
          <p:nvPr/>
        </p:nvSpPr>
        <p:spPr>
          <a:xfrm>
            <a:off x="1567080" y="2612880"/>
            <a:ext cx="36572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C8FF"/>
                </a:solidFill>
                <a:effectLst/>
                <a:uFillTx/>
                <a:latin typeface="Courier New"/>
                <a:ea typeface="Courier New"/>
              </a:rPr>
              <a:t>cloudide.webhop.me/docs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6"/>
          <p:cNvSpPr/>
          <p:nvPr/>
        </p:nvSpPr>
        <p:spPr>
          <a:xfrm>
            <a:off x="1567080" y="2928960"/>
            <a:ext cx="694908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Interactive Swagger UI. Test all endpoints directly in browser.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7"/>
          <p:cNvSpPr/>
          <p:nvPr/>
        </p:nvSpPr>
        <p:spPr>
          <a:xfrm>
            <a:off x="360000" y="3369960"/>
            <a:ext cx="8412120" cy="720000"/>
          </a:xfrm>
          <a:prstGeom prst="roundRect">
            <a:avLst>
              <a:gd name="adj" fmla="val 12245"/>
            </a:avLst>
          </a:prstGeom>
          <a:solidFill>
            <a:srgbClr val="112240"/>
          </a:solidFill>
          <a:ln w="19050">
            <a:solidFill>
              <a:srgbClr val="DC382D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8"/>
          <p:cNvSpPr/>
          <p:nvPr/>
        </p:nvSpPr>
        <p:spPr>
          <a:xfrm>
            <a:off x="469800" y="3429000"/>
            <a:ext cx="1005480" cy="220320"/>
          </a:xfrm>
          <a:prstGeom prst="roundRect">
            <a:avLst>
              <a:gd name="adj" fmla="val 26667"/>
            </a:avLst>
          </a:prstGeom>
          <a:solidFill>
            <a:srgbClr val="DC382D">
              <a:alpha val="80000"/>
            </a:srgbClr>
          </a:solidFill>
          <a:ln w="6350">
            <a:solidFill>
              <a:srgbClr val="DC38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9"/>
          <p:cNvSpPr/>
          <p:nvPr/>
        </p:nvSpPr>
        <p:spPr>
          <a:xfrm>
            <a:off x="469800" y="3429000"/>
            <a:ext cx="100548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Health Check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0"/>
          <p:cNvSpPr/>
          <p:nvPr/>
        </p:nvSpPr>
        <p:spPr>
          <a:xfrm>
            <a:off x="1567080" y="3436200"/>
            <a:ext cx="3657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C8FF"/>
                </a:solidFill>
                <a:effectLst/>
                <a:uFillTx/>
                <a:latin typeface="Courier New"/>
                <a:ea typeface="Courier New"/>
              </a:rPr>
              <a:t>cloudide.webhop.me/health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1"/>
          <p:cNvSpPr/>
          <p:nvPr/>
        </p:nvSpPr>
        <p:spPr>
          <a:xfrm>
            <a:off x="1567080" y="3752280"/>
            <a:ext cx="694908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Backend health status. Confirms Redis and Docker connectivity.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3"/>
          <p:cNvSpPr/>
          <p:nvPr/>
        </p:nvSpPr>
        <p:spPr>
          <a:xfrm>
            <a:off x="542880" y="4222800"/>
            <a:ext cx="804636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E59B"/>
                </a:solidFill>
                <a:effectLst/>
                <a:uFillTx/>
                <a:latin typeface="Calibri"/>
                <a:ea typeface="Calibri"/>
              </a:rPr>
              <a:t>Demo: Write code → Execute → Watch debug dashboard update in real time → Check /api/metrics for container stats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"/>
          <p:cNvSpPr/>
          <p:nvPr/>
        </p:nvSpPr>
        <p:spPr>
          <a:xfrm>
            <a:off x="0" y="5106960"/>
            <a:ext cx="9143640" cy="36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"/>
          <p:cNvSpPr/>
          <p:nvPr/>
        </p:nvSpPr>
        <p:spPr>
          <a:xfrm>
            <a:off x="457200" y="1645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Summary</a:t>
            </a: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3"/>
          <p:cNvSpPr/>
          <p:nvPr/>
        </p:nvSpPr>
        <p:spPr>
          <a:xfrm>
            <a:off x="347400" y="987480"/>
            <a:ext cx="4205880" cy="1810080"/>
          </a:xfrm>
          <a:prstGeom prst="roundRect">
            <a:avLst>
              <a:gd name="adj" fmla="val 6061"/>
            </a:avLst>
          </a:prstGeom>
          <a:solidFill>
            <a:srgbClr val="112240"/>
          </a:solidFill>
          <a:ln w="19050">
            <a:solidFill>
              <a:srgbClr val="00C8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4"/>
          <p:cNvSpPr/>
          <p:nvPr/>
        </p:nvSpPr>
        <p:spPr>
          <a:xfrm>
            <a:off x="511920" y="1170360"/>
            <a:ext cx="387684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C8FF"/>
                </a:solidFill>
                <a:effectLst/>
                <a:uFillTx/>
                <a:latin typeface="Calibri"/>
                <a:ea typeface="Calibri"/>
              </a:rPr>
              <a:t>One Container Per Request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Every code execution is fully isolated in a new Docker container — aligned with cloud function and FaaS patterns.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5"/>
          <p:cNvSpPr/>
          <p:nvPr/>
        </p:nvSpPr>
        <p:spPr>
          <a:xfrm>
            <a:off x="4809600" y="987480"/>
            <a:ext cx="4205880" cy="1810080"/>
          </a:xfrm>
          <a:prstGeom prst="roundRect">
            <a:avLst>
              <a:gd name="adj" fmla="val 6061"/>
            </a:avLst>
          </a:prstGeom>
          <a:solidFill>
            <a:srgbClr val="112240"/>
          </a:solidFill>
          <a:ln w="19050">
            <a:solidFill>
              <a:srgbClr val="00E59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6"/>
          <p:cNvSpPr/>
          <p:nvPr/>
        </p:nvSpPr>
        <p:spPr>
          <a:xfrm>
            <a:off x="4974480" y="1170360"/>
            <a:ext cx="387684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E59B"/>
                </a:solidFill>
                <a:effectLst/>
                <a:uFillTx/>
                <a:latin typeface="Calibri"/>
                <a:ea typeface="Calibri"/>
              </a:rPr>
              <a:t>Complete Observability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Redis metrics, WebSocket event streaming, and the debug dashboard provide full visibility into the runtime.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7"/>
          <p:cNvSpPr/>
          <p:nvPr/>
        </p:nvSpPr>
        <p:spPr>
          <a:xfrm>
            <a:off x="347400" y="2926080"/>
            <a:ext cx="4205880" cy="1810080"/>
          </a:xfrm>
          <a:prstGeom prst="roundRect">
            <a:avLst>
              <a:gd name="adj" fmla="val 6061"/>
            </a:avLst>
          </a:prstGeom>
          <a:solidFill>
            <a:srgbClr val="112240"/>
          </a:solidFill>
          <a:ln w="19050">
            <a:solidFill>
              <a:srgbClr val="0080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8"/>
          <p:cNvSpPr/>
          <p:nvPr/>
        </p:nvSpPr>
        <p:spPr>
          <a:xfrm>
            <a:off x="511920" y="3108960"/>
            <a:ext cx="387684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80FF"/>
                </a:solidFill>
                <a:effectLst/>
                <a:uFillTx/>
                <a:latin typeface="Calibri"/>
                <a:ea typeface="Calibri"/>
              </a:rPr>
              <a:t>Minimal, Intentional Stack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FastAPI + Redis + Docker only. No unnecessary services — every component has a clear role and is replaceable.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9"/>
          <p:cNvSpPr/>
          <p:nvPr/>
        </p:nvSpPr>
        <p:spPr>
          <a:xfrm>
            <a:off x="4809600" y="2926080"/>
            <a:ext cx="4205880" cy="1810080"/>
          </a:xfrm>
          <a:prstGeom prst="roundRect">
            <a:avLst>
              <a:gd name="adj" fmla="val 6061"/>
            </a:avLst>
          </a:prstGeom>
          <a:solidFill>
            <a:srgbClr val="112240"/>
          </a:solidFill>
          <a:ln w="19050">
            <a:solidFill>
              <a:srgbClr val="7B61F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0"/>
          <p:cNvSpPr/>
          <p:nvPr/>
        </p:nvSpPr>
        <p:spPr>
          <a:xfrm>
            <a:off x="4974480" y="3108960"/>
            <a:ext cx="387684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B61FF"/>
                </a:solidFill>
                <a:effectLst/>
                <a:uFillTx/>
                <a:latin typeface="Calibri"/>
                <a:ea typeface="Calibri"/>
              </a:rPr>
              <a:t>VCC Theory Applied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Namespaces, cgroups, container lifecycle, resource limits, and VM-hosted deployment demonstrate core VCC concepts end to end.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1"/>
          <p:cNvSpPr/>
          <p:nvPr/>
        </p:nvSpPr>
        <p:spPr>
          <a:xfrm>
            <a:off x="45720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35"/>
          <p:cNvSpPr/>
          <p:nvPr/>
        </p:nvSpPr>
        <p:spPr>
          <a:xfrm>
            <a:off x="0" y="5106960"/>
            <a:ext cx="9143640" cy="36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45"/>
          <p:cNvSpPr/>
          <p:nvPr/>
        </p:nvSpPr>
        <p:spPr>
          <a:xfrm>
            <a:off x="45720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5" name=""/>
          <p:cNvPicPr/>
          <p:nvPr/>
        </p:nvPicPr>
        <p:blipFill>
          <a:blip r:embed="rId1"/>
          <a:stretch/>
        </p:blipFill>
        <p:spPr>
          <a:xfrm>
            <a:off x="144360" y="180000"/>
            <a:ext cx="8853120" cy="459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37"/>
          <p:cNvSpPr/>
          <p:nvPr/>
        </p:nvSpPr>
        <p:spPr>
          <a:xfrm>
            <a:off x="0" y="5106960"/>
            <a:ext cx="9143640" cy="36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42"/>
          <p:cNvSpPr/>
          <p:nvPr/>
        </p:nvSpPr>
        <p:spPr>
          <a:xfrm>
            <a:off x="45720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8" name=""/>
          <p:cNvPicPr/>
          <p:nvPr/>
        </p:nvPicPr>
        <p:blipFill>
          <a:blip r:embed="rId1"/>
          <a:stretch/>
        </p:blipFill>
        <p:spPr>
          <a:xfrm>
            <a:off x="144360" y="180000"/>
            <a:ext cx="8855640" cy="4642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36"/>
          <p:cNvSpPr/>
          <p:nvPr/>
        </p:nvSpPr>
        <p:spPr>
          <a:xfrm>
            <a:off x="0" y="5106960"/>
            <a:ext cx="9143640" cy="36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41"/>
          <p:cNvSpPr/>
          <p:nvPr/>
        </p:nvSpPr>
        <p:spPr>
          <a:xfrm>
            <a:off x="45720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1" name=""/>
          <p:cNvPicPr/>
          <p:nvPr/>
        </p:nvPicPr>
        <p:blipFill>
          <a:blip r:embed="rId1"/>
          <a:stretch/>
        </p:blipFill>
        <p:spPr>
          <a:xfrm>
            <a:off x="180000" y="196560"/>
            <a:ext cx="8845920" cy="4483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29"/>
          <p:cNvSpPr/>
          <p:nvPr/>
        </p:nvSpPr>
        <p:spPr>
          <a:xfrm>
            <a:off x="0" y="5106960"/>
            <a:ext cx="9143640" cy="36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40"/>
          <p:cNvSpPr/>
          <p:nvPr/>
        </p:nvSpPr>
        <p:spPr>
          <a:xfrm>
            <a:off x="45720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360000" y="3745800"/>
            <a:ext cx="3186720" cy="11142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IN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Chirag Sindhu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2K20CSUNO3002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2020-2024</a:t>
            </a:r>
            <a:br>
              <a:rPr sz="1800"/>
            </a:b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VCC | SUMMER SEMESTER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980000" y="1728000"/>
            <a:ext cx="5040000" cy="1224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p>
            <a:pPr algn="ctr"/>
            <a:r>
              <a:rPr lang="en-IN" sz="4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Thank You!</a:t>
            </a:r>
            <a:endParaRPr lang="en-IN" sz="40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6120000" y="4377600"/>
            <a:ext cx="2814840" cy="39564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  <a:hlinkClick r:id="rId1"/>
              </a:rPr>
              <a:t>https://cloudide.webhop.me</a:t>
            </a:r>
            <a:br>
              <a:rPr sz="1200"/>
            </a:br>
            <a:r>
              <a:rPr lang="en-US" sz="12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https://github.com/ChiragSindhu/cloudide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LibreOffice/26.2.3.2$Windows_X86_64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2026-06-11T22:51:14Z</dcterms:created>
  <dc:creator>Chirag Sindhu</dc:creator>
  <dc:description/>
  <dc:language>en-IN</dc:language>
  <cp:lastModifiedBy/>
  <dcterms:modified xsi:type="dcterms:W3CDTF">2026-06-12T04:43:41Z</dcterms:modified>
  <cp:revision>3</cp:revision>
  <dc:subject>PptxGenJS Presentation</dc:subject>
  <dc:title>Cloud Python Compiler — VCC Project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